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Calibri (MS) Bold" charset="1" panose="020F0702030404030204"/>
      <p:regular r:id="rId26"/>
    </p:embeddedFont>
    <p:embeddedFont>
      <p:font typeface="Source Sans 3 Bold" charset="1" panose="020B0303030403020204"/>
      <p:regular r:id="rId27"/>
    </p:embeddedFont>
    <p:embeddedFont>
      <p:font typeface="Source Sans 3" charset="1" panose="020B0303030403020204"/>
      <p:regular r:id="rId28"/>
    </p:embeddedFont>
    <p:embeddedFont>
      <p:font typeface="Calibri (MS)" charset="1" panose="020F0502020204030204"/>
      <p:regular r:id="rId29"/>
    </p:embeddedFont>
    <p:embeddedFont>
      <p:font typeface="Open Sans Bold" charset="1" panose="020B0806030504020204"/>
      <p:regular r:id="rId30"/>
    </p:embeddedFont>
    <p:embeddedFont>
      <p:font typeface="Open Sans" charset="1" panose="020B0606030504020204"/>
      <p:regular r:id="rId31"/>
    </p:embeddedFont>
    <p:embeddedFont>
      <p:font typeface="Calibri (MS) Italics" charset="1" panose="020F05020202040A0204"/>
      <p:regular r:id="rId32"/>
    </p:embeddedFont>
    <p:embeddedFont>
      <p:font typeface="Arimo Bold" charset="1" panose="020B070402020202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DECE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095A4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1028700"/>
            <a:ext cx="5876572" cy="2019893"/>
            <a:chOff x="0" y="0"/>
            <a:chExt cx="19564350" cy="67246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64350" cy="6724650"/>
            </a:xfrm>
            <a:custGeom>
              <a:avLst/>
              <a:gdLst/>
              <a:ahLst/>
              <a:cxnLst/>
              <a:rect r="r" b="b" t="t" l="l"/>
              <a:pathLst>
                <a:path h="6724650" w="19564350">
                  <a:moveTo>
                    <a:pt x="0" y="0"/>
                  </a:moveTo>
                  <a:lnTo>
                    <a:pt x="19564350" y="0"/>
                  </a:lnTo>
                  <a:lnTo>
                    <a:pt x="19564350" y="6724650"/>
                  </a:lnTo>
                  <a:lnTo>
                    <a:pt x="0" y="6724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729" t="0" r="-16729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5858541"/>
            <a:ext cx="9109115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b="true" sz="4999" spc="637">
                <a:solidFill>
                  <a:srgbClr val="A0D4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Detect. Explain. Prioritize.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358772"/>
            <a:ext cx="13799308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99"/>
              </a:lnSpc>
            </a:pPr>
            <a:r>
              <a:rPr lang="en-US" b="true" sz="8999" spc="95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CLAIMGUARD JKN</a:t>
            </a:r>
          </a:p>
          <a:p>
            <a:pPr algn="l">
              <a:lnSpc>
                <a:spcPts val="2070"/>
              </a:lnSpc>
            </a:pPr>
          </a:p>
          <a:p>
            <a:pPr algn="l">
              <a:lnSpc>
                <a:spcPts val="3719"/>
              </a:lnSpc>
            </a:pPr>
            <a:r>
              <a:rPr lang="en-US" b="true" sz="3099" spc="329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“</a:t>
            </a:r>
            <a:r>
              <a:rPr lang="en-US" sz="3099" spc="329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Explain Risk Scoring to Detect and Prioritize High-Risk Claims”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7600037"/>
            <a:ext cx="11234234" cy="763651"/>
            <a:chOff x="0" y="0"/>
            <a:chExt cx="14978979" cy="101820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4978979" cy="1018201"/>
              <a:chOff x="0" y="0"/>
              <a:chExt cx="1696694" cy="11533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696694" cy="115333"/>
              </a:xfrm>
              <a:custGeom>
                <a:avLst/>
                <a:gdLst/>
                <a:ahLst/>
                <a:cxnLst/>
                <a:rect r="r" b="b" t="t" l="l"/>
                <a:pathLst>
                  <a:path h="115333" w="1696694">
                    <a:moveTo>
                      <a:pt x="11026" y="0"/>
                    </a:moveTo>
                    <a:lnTo>
                      <a:pt x="1685668" y="0"/>
                    </a:lnTo>
                    <a:cubicBezTo>
                      <a:pt x="1688592" y="0"/>
                      <a:pt x="1691397" y="1162"/>
                      <a:pt x="1693464" y="3229"/>
                    </a:cubicBezTo>
                    <a:cubicBezTo>
                      <a:pt x="1695532" y="5297"/>
                      <a:pt x="1696694" y="8102"/>
                      <a:pt x="1696694" y="11026"/>
                    </a:cubicBezTo>
                    <a:lnTo>
                      <a:pt x="1696694" y="104307"/>
                    </a:lnTo>
                    <a:cubicBezTo>
                      <a:pt x="1696694" y="110397"/>
                      <a:pt x="1691757" y="115333"/>
                      <a:pt x="1685668" y="115333"/>
                    </a:cubicBezTo>
                    <a:lnTo>
                      <a:pt x="11026" y="115333"/>
                    </a:lnTo>
                    <a:cubicBezTo>
                      <a:pt x="8102" y="115333"/>
                      <a:pt x="5297" y="114172"/>
                      <a:pt x="3229" y="112104"/>
                    </a:cubicBezTo>
                    <a:cubicBezTo>
                      <a:pt x="1162" y="110036"/>
                      <a:pt x="0" y="107232"/>
                      <a:pt x="0" y="104307"/>
                    </a:cubicBezTo>
                    <a:lnTo>
                      <a:pt x="0" y="11026"/>
                    </a:lnTo>
                    <a:cubicBezTo>
                      <a:pt x="0" y="8102"/>
                      <a:pt x="1162" y="5297"/>
                      <a:pt x="3229" y="3229"/>
                    </a:cubicBezTo>
                    <a:cubicBezTo>
                      <a:pt x="5297" y="1162"/>
                      <a:pt x="8102" y="0"/>
                      <a:pt x="11026" y="0"/>
                    </a:cubicBezTo>
                    <a:close/>
                  </a:path>
                </a:pathLst>
              </a:custGeom>
              <a:solidFill>
                <a:srgbClr val="1B976F">
                  <a:alpha val="26275"/>
                </a:srgbClr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254000" y="216894"/>
              <a:ext cx="14038270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99"/>
                </a:lnSpc>
                <a:spcBef>
                  <a:spcPct val="0"/>
                </a:spcBef>
              </a:pPr>
              <a:r>
                <a:rPr lang="en-US" b="true" sz="2999" spc="444">
                  <a:solidFill>
                    <a:srgbClr val="A0D4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Kategori:</a:t>
              </a:r>
              <a:r>
                <a:rPr lang="en-US" b="true" sz="2999" spc="444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Efisieni Risiko pada Fasilitas Kesehatan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DECEC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88271" y="2197883"/>
            <a:ext cx="16611018" cy="1671955"/>
            <a:chOff x="0" y="0"/>
            <a:chExt cx="22148025" cy="22292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48025" cy="2229273"/>
            </a:xfrm>
            <a:custGeom>
              <a:avLst/>
              <a:gdLst/>
              <a:ahLst/>
              <a:cxnLst/>
              <a:rect r="r" b="b" t="t" l="l"/>
              <a:pathLst>
                <a:path h="2229273" w="22148025">
                  <a:moveTo>
                    <a:pt x="22037866" y="2229273"/>
                  </a:moveTo>
                  <a:lnTo>
                    <a:pt x="114000" y="2229273"/>
                  </a:lnTo>
                  <a:cubicBezTo>
                    <a:pt x="111441" y="2229273"/>
                    <a:pt x="108885" y="2229120"/>
                    <a:pt x="106344" y="2228814"/>
                  </a:cubicBezTo>
                  <a:lnTo>
                    <a:pt x="106344" y="2228814"/>
                  </a:lnTo>
                  <a:cubicBezTo>
                    <a:pt x="103833" y="2228511"/>
                    <a:pt x="101422" y="2227651"/>
                    <a:pt x="99286" y="2226296"/>
                  </a:cubicBezTo>
                  <a:lnTo>
                    <a:pt x="65811" y="2205065"/>
                  </a:lnTo>
                  <a:cubicBezTo>
                    <a:pt x="42028" y="2189982"/>
                    <a:pt x="24026" y="2167319"/>
                    <a:pt x="14715" y="2140740"/>
                  </a:cubicBezTo>
                  <a:lnTo>
                    <a:pt x="1520" y="2103072"/>
                  </a:lnTo>
                  <a:cubicBezTo>
                    <a:pt x="514" y="2100201"/>
                    <a:pt x="0" y="2097180"/>
                    <a:pt x="0" y="2094138"/>
                  </a:cubicBezTo>
                  <a:moveTo>
                    <a:pt x="0" y="2089541"/>
                  </a:moveTo>
                  <a:lnTo>
                    <a:pt x="0" y="182560"/>
                  </a:lnTo>
                  <a:cubicBezTo>
                    <a:pt x="0" y="148218"/>
                    <a:pt x="6789" y="114215"/>
                    <a:pt x="19976" y="82506"/>
                  </a:cubicBezTo>
                  <a:lnTo>
                    <a:pt x="24935" y="70582"/>
                  </a:lnTo>
                  <a:cubicBezTo>
                    <a:pt x="34614" y="47307"/>
                    <a:pt x="52428" y="28347"/>
                    <a:pt x="75055" y="17237"/>
                  </a:cubicBezTo>
                  <a:lnTo>
                    <a:pt x="75055" y="17237"/>
                  </a:lnTo>
                  <a:cubicBezTo>
                    <a:pt x="98150" y="5896"/>
                    <a:pt x="123536" y="0"/>
                    <a:pt x="149265" y="0"/>
                  </a:cubicBezTo>
                  <a:lnTo>
                    <a:pt x="21990926" y="0"/>
                  </a:lnTo>
                  <a:cubicBezTo>
                    <a:pt x="22021667" y="0"/>
                    <a:pt x="22051854" y="8169"/>
                    <a:pt x="22078400" y="23672"/>
                  </a:cubicBezTo>
                  <a:lnTo>
                    <a:pt x="22080880" y="25120"/>
                  </a:lnTo>
                  <a:cubicBezTo>
                    <a:pt x="22105443" y="39465"/>
                    <a:pt x="22124090" y="62091"/>
                    <a:pt x="22133480" y="88941"/>
                  </a:cubicBezTo>
                  <a:lnTo>
                    <a:pt x="22133480" y="88941"/>
                  </a:lnTo>
                  <a:cubicBezTo>
                    <a:pt x="22143107" y="116476"/>
                    <a:pt x="22148025" y="145437"/>
                    <a:pt x="22148025" y="174606"/>
                  </a:cubicBezTo>
                  <a:lnTo>
                    <a:pt x="22148025" y="2046713"/>
                  </a:lnTo>
                  <a:cubicBezTo>
                    <a:pt x="22148025" y="2081055"/>
                    <a:pt x="22141236" y="2115058"/>
                    <a:pt x="22128049" y="2146767"/>
                  </a:cubicBezTo>
                  <a:lnTo>
                    <a:pt x="22121685" y="2162071"/>
                  </a:lnTo>
                  <a:cubicBezTo>
                    <a:pt x="22112881" y="2183240"/>
                    <a:pt x="22097045" y="2200726"/>
                    <a:pt x="22076849" y="2211577"/>
                  </a:cubicBezTo>
                  <a:lnTo>
                    <a:pt x="22049008" y="2226536"/>
                  </a:lnTo>
                  <a:cubicBezTo>
                    <a:pt x="22046771" y="2227737"/>
                    <a:pt x="22044330" y="2228510"/>
                    <a:pt x="22041810" y="2228814"/>
                  </a:cubicBezTo>
                  <a:lnTo>
                    <a:pt x="22038061" y="2229265"/>
                  </a:lnTo>
                  <a:cubicBezTo>
                    <a:pt x="22038018" y="2229271"/>
                    <a:pt x="22037974" y="2229273"/>
                    <a:pt x="22037931" y="2229273"/>
                  </a:cubicBezTo>
                  <a:close/>
                </a:path>
              </a:pathLst>
            </a:custGeom>
            <a:solidFill>
              <a:srgbClr val="137A5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8271" y="4249438"/>
            <a:ext cx="16611018" cy="763651"/>
            <a:chOff x="0" y="0"/>
            <a:chExt cx="2508744" cy="115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08744" cy="115333"/>
            </a:xfrm>
            <a:custGeom>
              <a:avLst/>
              <a:gdLst/>
              <a:ahLst/>
              <a:cxnLst/>
              <a:rect r="r" b="b" t="t" l="l"/>
              <a:pathLst>
                <a:path h="115333" w="2508744">
                  <a:moveTo>
                    <a:pt x="7457" y="0"/>
                  </a:moveTo>
                  <a:lnTo>
                    <a:pt x="2501287" y="0"/>
                  </a:lnTo>
                  <a:cubicBezTo>
                    <a:pt x="2505405" y="0"/>
                    <a:pt x="2508744" y="3339"/>
                    <a:pt x="2508744" y="7457"/>
                  </a:cubicBezTo>
                  <a:lnTo>
                    <a:pt x="2508744" y="107876"/>
                  </a:lnTo>
                  <a:cubicBezTo>
                    <a:pt x="2508744" y="109854"/>
                    <a:pt x="2507958" y="111751"/>
                    <a:pt x="2506560" y="113149"/>
                  </a:cubicBezTo>
                  <a:cubicBezTo>
                    <a:pt x="2505161" y="114548"/>
                    <a:pt x="2503264" y="115333"/>
                    <a:pt x="2501287" y="115333"/>
                  </a:cubicBezTo>
                  <a:lnTo>
                    <a:pt x="7457" y="115333"/>
                  </a:lnTo>
                  <a:cubicBezTo>
                    <a:pt x="5479" y="115333"/>
                    <a:pt x="3583" y="114548"/>
                    <a:pt x="2184" y="113149"/>
                  </a:cubicBezTo>
                  <a:cubicBezTo>
                    <a:pt x="786" y="111751"/>
                    <a:pt x="0" y="109854"/>
                    <a:pt x="0" y="107876"/>
                  </a:cubicBezTo>
                  <a:lnTo>
                    <a:pt x="0" y="7457"/>
                  </a:lnTo>
                  <a:cubicBezTo>
                    <a:pt x="0" y="5479"/>
                    <a:pt x="786" y="3583"/>
                    <a:pt x="2184" y="2184"/>
                  </a:cubicBezTo>
                  <a:cubicBezTo>
                    <a:pt x="3583" y="786"/>
                    <a:pt x="5479" y="0"/>
                    <a:pt x="7457" y="0"/>
                  </a:cubicBezTo>
                  <a:close/>
                </a:path>
              </a:pathLst>
            </a:custGeom>
            <a:solidFill>
              <a:srgbClr val="24C591">
                <a:alpha val="6275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42126" y="5531469"/>
            <a:ext cx="3914993" cy="2449639"/>
            <a:chOff x="0" y="0"/>
            <a:chExt cx="606535" cy="3795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6535" cy="379513"/>
            </a:xfrm>
            <a:custGeom>
              <a:avLst/>
              <a:gdLst/>
              <a:ahLst/>
              <a:cxnLst/>
              <a:rect r="r" b="b" t="t" l="l"/>
              <a:pathLst>
                <a:path h="379513" w="606535">
                  <a:moveTo>
                    <a:pt x="45483" y="0"/>
                  </a:moveTo>
                  <a:lnTo>
                    <a:pt x="561052" y="0"/>
                  </a:lnTo>
                  <a:cubicBezTo>
                    <a:pt x="573115" y="0"/>
                    <a:pt x="584684" y="4792"/>
                    <a:pt x="593213" y="13322"/>
                  </a:cubicBezTo>
                  <a:cubicBezTo>
                    <a:pt x="601743" y="21851"/>
                    <a:pt x="606535" y="33420"/>
                    <a:pt x="606535" y="45483"/>
                  </a:cubicBezTo>
                  <a:lnTo>
                    <a:pt x="606535" y="334031"/>
                  </a:lnTo>
                  <a:cubicBezTo>
                    <a:pt x="606535" y="359150"/>
                    <a:pt x="586172" y="379513"/>
                    <a:pt x="561052" y="379513"/>
                  </a:cubicBezTo>
                  <a:lnTo>
                    <a:pt x="45483" y="379513"/>
                  </a:lnTo>
                  <a:cubicBezTo>
                    <a:pt x="33420" y="379513"/>
                    <a:pt x="21851" y="374721"/>
                    <a:pt x="13322" y="366192"/>
                  </a:cubicBezTo>
                  <a:cubicBezTo>
                    <a:pt x="4792" y="357662"/>
                    <a:pt x="0" y="346093"/>
                    <a:pt x="0" y="334031"/>
                  </a:cubicBezTo>
                  <a:lnTo>
                    <a:pt x="0" y="45483"/>
                  </a:lnTo>
                  <a:cubicBezTo>
                    <a:pt x="0" y="33420"/>
                    <a:pt x="4792" y="21851"/>
                    <a:pt x="13322" y="13322"/>
                  </a:cubicBezTo>
                  <a:cubicBezTo>
                    <a:pt x="21851" y="4792"/>
                    <a:pt x="33420" y="0"/>
                    <a:pt x="45483" y="0"/>
                  </a:cubicBezTo>
                  <a:close/>
                </a:path>
              </a:pathLst>
            </a:custGeom>
            <a:solidFill>
              <a:srgbClr val="F3F0F0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5047832" y="5531469"/>
            <a:ext cx="3914993" cy="2449639"/>
            <a:chOff x="0" y="0"/>
            <a:chExt cx="606535" cy="3795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6535" cy="379513"/>
            </a:xfrm>
            <a:custGeom>
              <a:avLst/>
              <a:gdLst/>
              <a:ahLst/>
              <a:cxnLst/>
              <a:rect r="r" b="b" t="t" l="l"/>
              <a:pathLst>
                <a:path h="379513" w="606535">
                  <a:moveTo>
                    <a:pt x="45483" y="0"/>
                  </a:moveTo>
                  <a:lnTo>
                    <a:pt x="561052" y="0"/>
                  </a:lnTo>
                  <a:cubicBezTo>
                    <a:pt x="573115" y="0"/>
                    <a:pt x="584684" y="4792"/>
                    <a:pt x="593213" y="13322"/>
                  </a:cubicBezTo>
                  <a:cubicBezTo>
                    <a:pt x="601743" y="21851"/>
                    <a:pt x="606535" y="33420"/>
                    <a:pt x="606535" y="45483"/>
                  </a:cubicBezTo>
                  <a:lnTo>
                    <a:pt x="606535" y="334031"/>
                  </a:lnTo>
                  <a:cubicBezTo>
                    <a:pt x="606535" y="359150"/>
                    <a:pt x="586172" y="379513"/>
                    <a:pt x="561052" y="379513"/>
                  </a:cubicBezTo>
                  <a:lnTo>
                    <a:pt x="45483" y="379513"/>
                  </a:lnTo>
                  <a:cubicBezTo>
                    <a:pt x="33420" y="379513"/>
                    <a:pt x="21851" y="374721"/>
                    <a:pt x="13322" y="366192"/>
                  </a:cubicBezTo>
                  <a:cubicBezTo>
                    <a:pt x="4792" y="357662"/>
                    <a:pt x="0" y="346093"/>
                    <a:pt x="0" y="334031"/>
                  </a:cubicBezTo>
                  <a:lnTo>
                    <a:pt x="0" y="45483"/>
                  </a:lnTo>
                  <a:cubicBezTo>
                    <a:pt x="0" y="33420"/>
                    <a:pt x="4792" y="21851"/>
                    <a:pt x="13322" y="13322"/>
                  </a:cubicBezTo>
                  <a:cubicBezTo>
                    <a:pt x="21851" y="4792"/>
                    <a:pt x="33420" y="0"/>
                    <a:pt x="4548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484296" y="5531469"/>
            <a:ext cx="3914993" cy="2449639"/>
            <a:chOff x="0" y="0"/>
            <a:chExt cx="606535" cy="3795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6535" cy="379513"/>
            </a:xfrm>
            <a:custGeom>
              <a:avLst/>
              <a:gdLst/>
              <a:ahLst/>
              <a:cxnLst/>
              <a:rect r="r" b="b" t="t" l="l"/>
              <a:pathLst>
                <a:path h="379513" w="606535">
                  <a:moveTo>
                    <a:pt x="45483" y="0"/>
                  </a:moveTo>
                  <a:lnTo>
                    <a:pt x="561052" y="0"/>
                  </a:lnTo>
                  <a:cubicBezTo>
                    <a:pt x="573115" y="0"/>
                    <a:pt x="584684" y="4792"/>
                    <a:pt x="593213" y="13322"/>
                  </a:cubicBezTo>
                  <a:cubicBezTo>
                    <a:pt x="601743" y="21851"/>
                    <a:pt x="606535" y="33420"/>
                    <a:pt x="606535" y="45483"/>
                  </a:cubicBezTo>
                  <a:lnTo>
                    <a:pt x="606535" y="334031"/>
                  </a:lnTo>
                  <a:cubicBezTo>
                    <a:pt x="606535" y="359150"/>
                    <a:pt x="586172" y="379513"/>
                    <a:pt x="561052" y="379513"/>
                  </a:cubicBezTo>
                  <a:lnTo>
                    <a:pt x="45483" y="379513"/>
                  </a:lnTo>
                  <a:cubicBezTo>
                    <a:pt x="33420" y="379513"/>
                    <a:pt x="21851" y="374721"/>
                    <a:pt x="13322" y="366192"/>
                  </a:cubicBezTo>
                  <a:cubicBezTo>
                    <a:pt x="4792" y="357662"/>
                    <a:pt x="0" y="346093"/>
                    <a:pt x="0" y="334031"/>
                  </a:cubicBezTo>
                  <a:lnTo>
                    <a:pt x="0" y="45483"/>
                  </a:lnTo>
                  <a:cubicBezTo>
                    <a:pt x="0" y="33420"/>
                    <a:pt x="4792" y="21851"/>
                    <a:pt x="13322" y="13322"/>
                  </a:cubicBezTo>
                  <a:cubicBezTo>
                    <a:pt x="21851" y="4792"/>
                    <a:pt x="33420" y="0"/>
                    <a:pt x="4548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258100" y="5531469"/>
            <a:ext cx="3914993" cy="2449639"/>
            <a:chOff x="0" y="0"/>
            <a:chExt cx="606535" cy="3795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6535" cy="379513"/>
            </a:xfrm>
            <a:custGeom>
              <a:avLst/>
              <a:gdLst/>
              <a:ahLst/>
              <a:cxnLst/>
              <a:rect r="r" b="b" t="t" l="l"/>
              <a:pathLst>
                <a:path h="379513" w="606535">
                  <a:moveTo>
                    <a:pt x="45483" y="0"/>
                  </a:moveTo>
                  <a:lnTo>
                    <a:pt x="561052" y="0"/>
                  </a:lnTo>
                  <a:cubicBezTo>
                    <a:pt x="573115" y="0"/>
                    <a:pt x="584684" y="4792"/>
                    <a:pt x="593213" y="13322"/>
                  </a:cubicBezTo>
                  <a:cubicBezTo>
                    <a:pt x="601743" y="21851"/>
                    <a:pt x="606535" y="33420"/>
                    <a:pt x="606535" y="45483"/>
                  </a:cubicBezTo>
                  <a:lnTo>
                    <a:pt x="606535" y="334031"/>
                  </a:lnTo>
                  <a:cubicBezTo>
                    <a:pt x="606535" y="359150"/>
                    <a:pt x="586172" y="379513"/>
                    <a:pt x="561052" y="379513"/>
                  </a:cubicBezTo>
                  <a:lnTo>
                    <a:pt x="45483" y="379513"/>
                  </a:lnTo>
                  <a:cubicBezTo>
                    <a:pt x="33420" y="379513"/>
                    <a:pt x="21851" y="374721"/>
                    <a:pt x="13322" y="366192"/>
                  </a:cubicBezTo>
                  <a:cubicBezTo>
                    <a:pt x="4792" y="357662"/>
                    <a:pt x="0" y="346093"/>
                    <a:pt x="0" y="334031"/>
                  </a:cubicBezTo>
                  <a:lnTo>
                    <a:pt x="0" y="45483"/>
                  </a:lnTo>
                  <a:cubicBezTo>
                    <a:pt x="0" y="33420"/>
                    <a:pt x="4792" y="21851"/>
                    <a:pt x="13322" y="13322"/>
                  </a:cubicBezTo>
                  <a:cubicBezTo>
                    <a:pt x="21851" y="4792"/>
                    <a:pt x="33420" y="0"/>
                    <a:pt x="4548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88271" y="8495458"/>
            <a:ext cx="16611018" cy="1215905"/>
            <a:chOff x="0" y="0"/>
            <a:chExt cx="2508744" cy="1836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08744" cy="183637"/>
            </a:xfrm>
            <a:custGeom>
              <a:avLst/>
              <a:gdLst/>
              <a:ahLst/>
              <a:cxnLst/>
              <a:rect r="r" b="b" t="t" l="l"/>
              <a:pathLst>
                <a:path h="183637" w="2508744">
                  <a:moveTo>
                    <a:pt x="7457" y="0"/>
                  </a:moveTo>
                  <a:lnTo>
                    <a:pt x="2501287" y="0"/>
                  </a:lnTo>
                  <a:cubicBezTo>
                    <a:pt x="2505405" y="0"/>
                    <a:pt x="2508744" y="3339"/>
                    <a:pt x="2508744" y="7457"/>
                  </a:cubicBezTo>
                  <a:lnTo>
                    <a:pt x="2508744" y="176180"/>
                  </a:lnTo>
                  <a:cubicBezTo>
                    <a:pt x="2508744" y="178157"/>
                    <a:pt x="2507958" y="180054"/>
                    <a:pt x="2506560" y="181453"/>
                  </a:cubicBezTo>
                  <a:cubicBezTo>
                    <a:pt x="2505161" y="182851"/>
                    <a:pt x="2503264" y="183637"/>
                    <a:pt x="2501287" y="183637"/>
                  </a:cubicBezTo>
                  <a:lnTo>
                    <a:pt x="7457" y="183637"/>
                  </a:lnTo>
                  <a:cubicBezTo>
                    <a:pt x="5479" y="183637"/>
                    <a:pt x="3583" y="182851"/>
                    <a:pt x="2184" y="181453"/>
                  </a:cubicBezTo>
                  <a:cubicBezTo>
                    <a:pt x="786" y="180054"/>
                    <a:pt x="0" y="178157"/>
                    <a:pt x="0" y="176180"/>
                  </a:cubicBezTo>
                  <a:lnTo>
                    <a:pt x="0" y="7457"/>
                  </a:lnTo>
                  <a:cubicBezTo>
                    <a:pt x="0" y="5479"/>
                    <a:pt x="786" y="3583"/>
                    <a:pt x="2184" y="2184"/>
                  </a:cubicBezTo>
                  <a:cubicBezTo>
                    <a:pt x="3583" y="786"/>
                    <a:pt x="5479" y="0"/>
                    <a:pt x="7457" y="0"/>
                  </a:cubicBezTo>
                  <a:close/>
                </a:path>
              </a:pathLst>
            </a:custGeom>
            <a:solidFill>
              <a:srgbClr val="24C591">
                <a:alpha val="6275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90080" y="5729588"/>
            <a:ext cx="837437" cy="83743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976F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-1967101">
            <a:off x="1189093" y="5892750"/>
            <a:ext cx="601311" cy="511115"/>
          </a:xfrm>
          <a:custGeom>
            <a:avLst/>
            <a:gdLst/>
            <a:ahLst/>
            <a:cxnLst/>
            <a:rect r="r" b="b" t="t" l="l"/>
            <a:pathLst>
              <a:path h="511115" w="601311">
                <a:moveTo>
                  <a:pt x="0" y="0"/>
                </a:moveTo>
                <a:lnTo>
                  <a:pt x="601311" y="0"/>
                </a:lnTo>
                <a:lnTo>
                  <a:pt x="601311" y="511114"/>
                </a:lnTo>
                <a:lnTo>
                  <a:pt x="0" y="5111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410632" y="5708414"/>
            <a:ext cx="837437" cy="83743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976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20050" y="5708414"/>
            <a:ext cx="837437" cy="83743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976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992243" y="5708414"/>
            <a:ext cx="837437" cy="837437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976F"/>
            </a:solid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5604699" y="5877519"/>
            <a:ext cx="449304" cy="499226"/>
          </a:xfrm>
          <a:custGeom>
            <a:avLst/>
            <a:gdLst/>
            <a:ahLst/>
            <a:cxnLst/>
            <a:rect r="r" b="b" t="t" l="l"/>
            <a:pathLst>
              <a:path h="499226" w="449304">
                <a:moveTo>
                  <a:pt x="0" y="0"/>
                </a:moveTo>
                <a:lnTo>
                  <a:pt x="449303" y="0"/>
                </a:lnTo>
                <a:lnTo>
                  <a:pt x="449303" y="499227"/>
                </a:lnTo>
                <a:lnTo>
                  <a:pt x="0" y="49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208997" y="5897227"/>
            <a:ext cx="403930" cy="461634"/>
          </a:xfrm>
          <a:custGeom>
            <a:avLst/>
            <a:gdLst/>
            <a:ahLst/>
            <a:cxnLst/>
            <a:rect r="r" b="b" t="t" l="l"/>
            <a:pathLst>
              <a:path h="461634" w="403930">
                <a:moveTo>
                  <a:pt x="0" y="0"/>
                </a:moveTo>
                <a:lnTo>
                  <a:pt x="403929" y="0"/>
                </a:lnTo>
                <a:lnTo>
                  <a:pt x="403929" y="461634"/>
                </a:lnTo>
                <a:lnTo>
                  <a:pt x="0" y="4616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810550" y="5891612"/>
            <a:ext cx="513391" cy="513391"/>
          </a:xfrm>
          <a:custGeom>
            <a:avLst/>
            <a:gdLst/>
            <a:ahLst/>
            <a:cxnLst/>
            <a:rect r="r" b="b" t="t" l="l"/>
            <a:pathLst>
              <a:path h="513391" w="513391">
                <a:moveTo>
                  <a:pt x="0" y="0"/>
                </a:moveTo>
                <a:lnTo>
                  <a:pt x="513390" y="0"/>
                </a:lnTo>
                <a:lnTo>
                  <a:pt x="513390" y="513390"/>
                </a:lnTo>
                <a:lnTo>
                  <a:pt x="0" y="5133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 descr="$PPTXTitle"/>
          <p:cNvSpPr txBox="true"/>
          <p:nvPr/>
        </p:nvSpPr>
        <p:spPr>
          <a:xfrm rot="0">
            <a:off x="788271" y="1480133"/>
            <a:ext cx="10278190" cy="51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4875" b="true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Kenali klaim berisiko, pahami alasannya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3544" y="2605236"/>
            <a:ext cx="1606911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ClaimGuard JKN membantu petugas melakukan klaim JKN yang tidak wajar, melihat seberapa besar risikonya, dan memahami alasannya, lalu meninjau klaim yang paling berisiko lebih dulu.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8507" y="4393713"/>
            <a:ext cx="11173821" cy="447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1"/>
              </a:lnSpc>
              <a:spcBef>
                <a:spcPct val="0"/>
              </a:spcBef>
            </a:pPr>
            <a:r>
              <a:rPr lang="en-US" b="true" sz="2524" spc="237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KATEGORI </a:t>
            </a:r>
            <a:r>
              <a:rPr lang="en-US" b="true" sz="2524" spc="23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Efisiensi Risiko pada Fasilitas Kesehatan | 4 modus fokus: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8225" y="8648372"/>
            <a:ext cx="16030793" cy="968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4"/>
              </a:lnSpc>
              <a:spcBef>
                <a:spcPct val="0"/>
              </a:spcBef>
            </a:pPr>
            <a:r>
              <a:rPr lang="en-US" sz="2900" b="true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Pembeda: </a:t>
            </a:r>
            <a:r>
              <a:rPr lang="en-US" sz="29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bukan sekedar label fraud, tapi skor + alasan + prioritas. Keputusan akhir tetap di tangan manusia.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136196" y="5895894"/>
            <a:ext cx="209192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Repeat billing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467144" y="5911186"/>
            <a:ext cx="209192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Claim cloning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695612" y="5895894"/>
            <a:ext cx="194273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Inflated bills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068568" y="5895894"/>
            <a:ext cx="178100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Upcoding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78209" y="6669259"/>
            <a:ext cx="344282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Klaim yang sama diajukan lagi untuk layanan yang sama.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283914" y="6669259"/>
            <a:ext cx="344282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Dua klaim atau lebih sangat mirip, seperti hasil salinan.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02147" y="6669259"/>
            <a:ext cx="344282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Nilai tagihan jauh di atas klaim sejenis.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720379" y="6708663"/>
            <a:ext cx="344282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Diagnosis, tindakan, dan nilai klaim tidak cocok satu sama lain.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51651" y="531589"/>
            <a:ext cx="907423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53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POSITIONING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6450" y="-208811"/>
            <a:ext cx="18467034" cy="10533171"/>
            <a:chOff x="0" y="0"/>
            <a:chExt cx="24622711" cy="140442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22711" cy="14044228"/>
            </a:xfrm>
            <a:custGeom>
              <a:avLst/>
              <a:gdLst/>
              <a:ahLst/>
              <a:cxnLst/>
              <a:rect r="r" b="b" t="t" l="l"/>
              <a:pathLst>
                <a:path h="14044228" w="24622711">
                  <a:moveTo>
                    <a:pt x="24622711" y="14044228"/>
                  </a:moveTo>
                  <a:lnTo>
                    <a:pt x="0" y="14044228"/>
                  </a:lnTo>
                  <a:lnTo>
                    <a:pt x="0" y="0"/>
                  </a:lnTo>
                  <a:lnTo>
                    <a:pt x="24622711" y="0"/>
                  </a:lnTo>
                  <a:lnTo>
                    <a:pt x="24622711" y="14044228"/>
                  </a:lnTo>
                  <a:close/>
                </a:path>
              </a:pathLst>
            </a:custGeom>
            <a:solidFill>
              <a:srgbClr val="EDECEC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63240" y="1519037"/>
            <a:ext cx="5041582" cy="2541285"/>
          </a:xfrm>
          <a:custGeom>
            <a:avLst/>
            <a:gdLst/>
            <a:ahLst/>
            <a:cxnLst/>
            <a:rect r="r" b="b" t="t" l="l"/>
            <a:pathLst>
              <a:path h="2541285" w="5041582">
                <a:moveTo>
                  <a:pt x="0" y="0"/>
                </a:moveTo>
                <a:lnTo>
                  <a:pt x="5041583" y="0"/>
                </a:lnTo>
                <a:lnTo>
                  <a:pt x="5041583" y="2541286"/>
                </a:lnTo>
                <a:lnTo>
                  <a:pt x="0" y="254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792072" y="1519037"/>
            <a:ext cx="5041582" cy="2541285"/>
          </a:xfrm>
          <a:custGeom>
            <a:avLst/>
            <a:gdLst/>
            <a:ahLst/>
            <a:cxnLst/>
            <a:rect r="r" b="b" t="t" l="l"/>
            <a:pathLst>
              <a:path h="2541285" w="5041582">
                <a:moveTo>
                  <a:pt x="0" y="0"/>
                </a:moveTo>
                <a:lnTo>
                  <a:pt x="5041583" y="0"/>
                </a:lnTo>
                <a:lnTo>
                  <a:pt x="5041583" y="2541286"/>
                </a:lnTo>
                <a:lnTo>
                  <a:pt x="0" y="254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623209" y="1519037"/>
            <a:ext cx="5041582" cy="2541285"/>
          </a:xfrm>
          <a:custGeom>
            <a:avLst/>
            <a:gdLst/>
            <a:ahLst/>
            <a:cxnLst/>
            <a:rect r="r" b="b" t="t" l="l"/>
            <a:pathLst>
              <a:path h="2541285" w="5041582">
                <a:moveTo>
                  <a:pt x="0" y="0"/>
                </a:moveTo>
                <a:lnTo>
                  <a:pt x="5041582" y="0"/>
                </a:lnTo>
                <a:lnTo>
                  <a:pt x="5041582" y="2541286"/>
                </a:lnTo>
                <a:lnTo>
                  <a:pt x="0" y="2541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12534822" y="4574673"/>
            <a:ext cx="5298833" cy="5266953"/>
            <a:chOff x="0" y="0"/>
            <a:chExt cx="800277" cy="7954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0277" cy="795462"/>
            </a:xfrm>
            <a:custGeom>
              <a:avLst/>
              <a:gdLst/>
              <a:ahLst/>
              <a:cxnLst/>
              <a:rect r="r" b="b" t="t" l="l"/>
              <a:pathLst>
                <a:path h="795462" w="800277">
                  <a:moveTo>
                    <a:pt x="14611" y="0"/>
                  </a:moveTo>
                  <a:lnTo>
                    <a:pt x="785666" y="0"/>
                  </a:lnTo>
                  <a:cubicBezTo>
                    <a:pt x="789541" y="0"/>
                    <a:pt x="793257" y="1539"/>
                    <a:pt x="795997" y="4279"/>
                  </a:cubicBezTo>
                  <a:cubicBezTo>
                    <a:pt x="798737" y="7019"/>
                    <a:pt x="800277" y="10736"/>
                    <a:pt x="800277" y="14611"/>
                  </a:cubicBezTo>
                  <a:lnTo>
                    <a:pt x="800277" y="780852"/>
                  </a:lnTo>
                  <a:cubicBezTo>
                    <a:pt x="800277" y="784727"/>
                    <a:pt x="798737" y="788443"/>
                    <a:pt x="795997" y="791183"/>
                  </a:cubicBezTo>
                  <a:cubicBezTo>
                    <a:pt x="793257" y="793923"/>
                    <a:pt x="789541" y="795462"/>
                    <a:pt x="785666" y="795462"/>
                  </a:cubicBezTo>
                  <a:lnTo>
                    <a:pt x="14611" y="795462"/>
                  </a:lnTo>
                  <a:cubicBezTo>
                    <a:pt x="10736" y="795462"/>
                    <a:pt x="7019" y="793923"/>
                    <a:pt x="4279" y="791183"/>
                  </a:cubicBezTo>
                  <a:cubicBezTo>
                    <a:pt x="1539" y="788443"/>
                    <a:pt x="0" y="784727"/>
                    <a:pt x="0" y="780852"/>
                  </a:cubicBezTo>
                  <a:lnTo>
                    <a:pt x="0" y="14611"/>
                  </a:lnTo>
                  <a:cubicBezTo>
                    <a:pt x="0" y="10736"/>
                    <a:pt x="1539" y="7019"/>
                    <a:pt x="4279" y="4279"/>
                  </a:cubicBezTo>
                  <a:cubicBezTo>
                    <a:pt x="7019" y="1539"/>
                    <a:pt x="10736" y="0"/>
                    <a:pt x="14611" y="0"/>
                  </a:cubicBezTo>
                  <a:close/>
                </a:path>
              </a:pathLst>
            </a:custGeom>
            <a:solidFill>
              <a:srgbClr val="24C591">
                <a:alpha val="6275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463240" y="4878822"/>
            <a:ext cx="11873820" cy="4902702"/>
            <a:chOff x="0" y="0"/>
            <a:chExt cx="1839565" cy="7595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39565" cy="759557"/>
            </a:xfrm>
            <a:custGeom>
              <a:avLst/>
              <a:gdLst/>
              <a:ahLst/>
              <a:cxnLst/>
              <a:rect r="r" b="b" t="t" l="l"/>
              <a:pathLst>
                <a:path h="759557" w="1839565">
                  <a:moveTo>
                    <a:pt x="14996" y="0"/>
                  </a:moveTo>
                  <a:lnTo>
                    <a:pt x="1824569" y="0"/>
                  </a:lnTo>
                  <a:cubicBezTo>
                    <a:pt x="1828546" y="0"/>
                    <a:pt x="1832361" y="1580"/>
                    <a:pt x="1835173" y="4392"/>
                  </a:cubicBezTo>
                  <a:cubicBezTo>
                    <a:pt x="1837985" y="7205"/>
                    <a:pt x="1839565" y="11019"/>
                    <a:pt x="1839565" y="14996"/>
                  </a:cubicBezTo>
                  <a:lnTo>
                    <a:pt x="1839565" y="744561"/>
                  </a:lnTo>
                  <a:cubicBezTo>
                    <a:pt x="1839565" y="752843"/>
                    <a:pt x="1832851" y="759557"/>
                    <a:pt x="1824569" y="759557"/>
                  </a:cubicBezTo>
                  <a:lnTo>
                    <a:pt x="14996" y="759557"/>
                  </a:lnTo>
                  <a:cubicBezTo>
                    <a:pt x="11019" y="759557"/>
                    <a:pt x="7205" y="757977"/>
                    <a:pt x="4392" y="755165"/>
                  </a:cubicBezTo>
                  <a:cubicBezTo>
                    <a:pt x="1580" y="752352"/>
                    <a:pt x="0" y="748538"/>
                    <a:pt x="0" y="744561"/>
                  </a:cubicBezTo>
                  <a:lnTo>
                    <a:pt x="0" y="14996"/>
                  </a:lnTo>
                  <a:cubicBezTo>
                    <a:pt x="0" y="6714"/>
                    <a:pt x="6714" y="0"/>
                    <a:pt x="149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63240" y="5600700"/>
            <a:ext cx="11873820" cy="3916146"/>
            <a:chOff x="0" y="0"/>
            <a:chExt cx="2464423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64423" cy="812800"/>
            </a:xfrm>
            <a:custGeom>
              <a:avLst/>
              <a:gdLst/>
              <a:ahLst/>
              <a:cxnLst/>
              <a:rect r="r" b="b" t="t" l="l"/>
              <a:pathLst>
                <a:path h="812800" w="2464423">
                  <a:moveTo>
                    <a:pt x="14996" y="0"/>
                  </a:moveTo>
                  <a:lnTo>
                    <a:pt x="2449427" y="0"/>
                  </a:lnTo>
                  <a:cubicBezTo>
                    <a:pt x="2457709" y="0"/>
                    <a:pt x="2464423" y="6714"/>
                    <a:pt x="2464423" y="14996"/>
                  </a:cubicBezTo>
                  <a:lnTo>
                    <a:pt x="2464423" y="797804"/>
                  </a:lnTo>
                  <a:cubicBezTo>
                    <a:pt x="2464423" y="806086"/>
                    <a:pt x="2457709" y="812800"/>
                    <a:pt x="2449427" y="812800"/>
                  </a:cubicBezTo>
                  <a:lnTo>
                    <a:pt x="14996" y="812800"/>
                  </a:lnTo>
                  <a:cubicBezTo>
                    <a:pt x="6714" y="812800"/>
                    <a:pt x="0" y="806086"/>
                    <a:pt x="0" y="797804"/>
                  </a:cubicBezTo>
                  <a:lnTo>
                    <a:pt x="0" y="14996"/>
                  </a:lnTo>
                  <a:cubicBezTo>
                    <a:pt x="0" y="6714"/>
                    <a:pt x="6714" y="0"/>
                    <a:pt x="14996" y="0"/>
                  </a:cubicBezTo>
                  <a:close/>
                </a:path>
              </a:pathLst>
            </a:custGeom>
            <a:blipFill>
              <a:blip r:embed="rId4"/>
              <a:stretch>
                <a:fillRect l="-1533" t="0" r="-1533" b="0"/>
              </a:stretch>
            </a:blipFill>
          </p:spPr>
        </p:sp>
      </p:grpSp>
      <p:sp>
        <p:nvSpPr>
          <p:cNvPr name="TextBox 13" id="13" descr="$PPTXTitle"/>
          <p:cNvSpPr txBox="true"/>
          <p:nvPr/>
        </p:nvSpPr>
        <p:spPr>
          <a:xfrm rot="0">
            <a:off x="514599" y="704988"/>
            <a:ext cx="6766798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Biaya JKN besar dan terus naik</a:t>
            </a:r>
          </a:p>
        </p:txBody>
      </p:sp>
      <p:sp>
        <p:nvSpPr>
          <p:cNvPr name="TextBox 14" id="14" descr="$PPTXTitle"/>
          <p:cNvSpPr txBox="true"/>
          <p:nvPr/>
        </p:nvSpPr>
        <p:spPr>
          <a:xfrm rot="0">
            <a:off x="832591" y="1587644"/>
            <a:ext cx="3666316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4875" b="true">
                <a:solidFill>
                  <a:srgbClr val="3A606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Rp191,33 T</a:t>
            </a:r>
          </a:p>
        </p:txBody>
      </p:sp>
      <p:sp>
        <p:nvSpPr>
          <p:cNvPr name="TextBox 15" id="15" descr="$PPTXTitle"/>
          <p:cNvSpPr txBox="true"/>
          <p:nvPr/>
        </p:nvSpPr>
        <p:spPr>
          <a:xfrm rot="0">
            <a:off x="7028426" y="1587644"/>
            <a:ext cx="3666316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4875" b="true">
                <a:solidFill>
                  <a:srgbClr val="3A606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87,1%</a:t>
            </a:r>
          </a:p>
        </p:txBody>
      </p:sp>
      <p:sp>
        <p:nvSpPr>
          <p:cNvPr name="TextBox 16" id="16" descr="$PPTXTitle"/>
          <p:cNvSpPr txBox="true"/>
          <p:nvPr/>
        </p:nvSpPr>
        <p:spPr>
          <a:xfrm rot="0">
            <a:off x="13201647" y="1587644"/>
            <a:ext cx="3666316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4875" b="true">
                <a:solidFill>
                  <a:srgbClr val="3A606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= Rp20T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2591" y="2399155"/>
            <a:ext cx="429631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Biaya pelayanan JKN tahun 2025 (2024: Rp176,11 T).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28426" y="2378219"/>
            <a:ext cx="429631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Biaya JKN 2025 (sekitar Rp166,6 T) mengalir ke layanan rumah sakit.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64706" y="2378219"/>
            <a:ext cx="4296315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Potensi kecurangan di layanan kesehatan (±10% belanja), temuan KPK 2024. BPJS: tidak seluruhnya JKN. Perkiraan Juli 2026: ±Rp6 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51993" y="5286375"/>
            <a:ext cx="429631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Biaya pelayanan JKN (Rp triliun)</a:t>
            </a:r>
          </a:p>
        </p:txBody>
      </p:sp>
      <p:sp>
        <p:nvSpPr>
          <p:cNvPr name="TextBox 21" id="21" descr="$PPTXTitle"/>
          <p:cNvSpPr txBox="true"/>
          <p:nvPr/>
        </p:nvSpPr>
        <p:spPr>
          <a:xfrm rot="0">
            <a:off x="12863510" y="4781550"/>
            <a:ext cx="4237149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 b="true">
                <a:solidFill>
                  <a:srgbClr val="3A606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Mengapa ini penting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11395" y="5467350"/>
            <a:ext cx="4632008" cy="435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Hampir semua biaya melewati klaim rumah sakit, jadi ketepatan pemeriksaan klaim sangat menentukan.</a:t>
            </a:r>
          </a:p>
          <a:p>
            <a:pPr algn="l" marL="561341" indent="-2806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Biaya naik dari tahun ke tahun, sehingga efisiensi dan integritas klaim perlu dijaga.</a:t>
            </a:r>
          </a:p>
          <a:p>
            <a:pPr algn="l" marL="561341" indent="-28067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Fokus kami: mengarahkan pemeriksaan, bukan menuduh.</a:t>
            </a:r>
          </a:p>
          <a:p>
            <a:pPr algn="l">
              <a:lnSpc>
                <a:spcPts val="3120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524124" y="228738"/>
            <a:ext cx="907423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53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MASALAH &amp; URGENSI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4275" y="-89517"/>
            <a:ext cx="18556550" cy="10466034"/>
            <a:chOff x="0" y="0"/>
            <a:chExt cx="24742067" cy="139547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42067" cy="13954711"/>
            </a:xfrm>
            <a:custGeom>
              <a:avLst/>
              <a:gdLst/>
              <a:ahLst/>
              <a:cxnLst/>
              <a:rect r="r" b="b" t="t" l="l"/>
              <a:pathLst>
                <a:path h="13954711" w="24742067">
                  <a:moveTo>
                    <a:pt x="24454194" y="13954711"/>
                  </a:moveTo>
                  <a:lnTo>
                    <a:pt x="287873" y="13954711"/>
                  </a:lnTo>
                  <a:cubicBezTo>
                    <a:pt x="128885" y="13954711"/>
                    <a:pt x="0" y="13825826"/>
                    <a:pt x="0" y="13666839"/>
                  </a:cubicBezTo>
                  <a:lnTo>
                    <a:pt x="0" y="287873"/>
                  </a:lnTo>
                  <a:cubicBezTo>
                    <a:pt x="0" y="211524"/>
                    <a:pt x="30329" y="138303"/>
                    <a:pt x="84316" y="84316"/>
                  </a:cubicBezTo>
                  <a:cubicBezTo>
                    <a:pt x="138303" y="30329"/>
                    <a:pt x="211524" y="0"/>
                    <a:pt x="287873" y="0"/>
                  </a:cubicBezTo>
                  <a:lnTo>
                    <a:pt x="24454194" y="0"/>
                  </a:lnTo>
                  <a:cubicBezTo>
                    <a:pt x="24530543" y="0"/>
                    <a:pt x="24603763" y="30329"/>
                    <a:pt x="24657751" y="84316"/>
                  </a:cubicBezTo>
                  <a:cubicBezTo>
                    <a:pt x="24711737" y="138303"/>
                    <a:pt x="24742067" y="211524"/>
                    <a:pt x="24742067" y="287873"/>
                  </a:cubicBezTo>
                  <a:lnTo>
                    <a:pt x="24742067" y="13666839"/>
                  </a:lnTo>
                  <a:cubicBezTo>
                    <a:pt x="24742067" y="13743187"/>
                    <a:pt x="24711737" y="13816408"/>
                    <a:pt x="24657751" y="13870395"/>
                  </a:cubicBezTo>
                  <a:cubicBezTo>
                    <a:pt x="24603763" y="13924381"/>
                    <a:pt x="24530543" y="13954711"/>
                    <a:pt x="24454194" y="13954711"/>
                  </a:cubicBezTo>
                  <a:close/>
                </a:path>
              </a:pathLst>
            </a:custGeom>
            <a:solidFill>
              <a:srgbClr val="EDECE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0104" y="843915"/>
            <a:ext cx="16459200" cy="1005840"/>
            <a:chOff x="0" y="0"/>
            <a:chExt cx="2194560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9"/>
                </a:lnSpc>
              </a:pPr>
              <a:r>
                <a:rPr lang="en-US" sz="41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Pemeriksaan sudah berjalan, tetapi perlu lebih terarah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511529" y="1849755"/>
          <a:ext cx="17212412" cy="6122214"/>
        </p:xfrm>
        <a:graphic>
          <a:graphicData uri="http://schemas.openxmlformats.org/drawingml/2006/table">
            <a:tbl>
              <a:tblPr/>
              <a:tblGrid>
                <a:gridCol w="3207181"/>
                <a:gridCol w="5205953"/>
                <a:gridCol w="8799278"/>
              </a:tblGrid>
              <a:tr h="64610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Aspek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3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Kondisi sekarang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Kebutuhan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2B"/>
                    </a:solidFill>
                  </a:tcPr>
                </a:tc>
              </a:tr>
              <a:tr h="12109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Volume klaim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3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3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3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3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E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</a:t>
                      </a: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iaya pelayanan naik dari Rp108,8 T (2019) ke Rp191,33 T (2025). Waktu verifikasi dibatasi, maksimal 10 hari kerja.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3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</a:t>
                      </a: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enyaringan awal otomatis, agar petugas tidak mulai dari nol.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12109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Cakupan pemeriksaan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3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E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Pada Vedika, verifikasi adminis</a:t>
                      </a: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trasi dilakukan untuk seluruh klaim, tetapi verifikasi pelayanan hanya pada sampel klaim.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Pri</a:t>
                      </a: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oritas pemeriksaan berdasarkan tingkat risiko, bukan sampel merata.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160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Cara menilai klaim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E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Ver</a:t>
                      </a: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ifikasi memakai logika regulasi dan kaidah koding sebagai sistem peringatan. Pola yang tersebar antar-klaim lebih sulit terlihat (analisis tim).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Sk</a:t>
                      </a: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or risiko yang membandingkan klaim dengan klaim lain dan kelompok sejenis.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15382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Dampak pengetatan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ED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Seir</a:t>
                      </a: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ing verifikasi diperketat (2024), survei ARSSI di 211 RS swasta mencatat klaim tertahan naik dari 14% (Agu) ke 19,6% (Okt).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Ta</a:t>
                      </a: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ndai hanya klaim berisiko dan jelaskan alasannya, agar klaim wajar tidak ikut tertahan.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540104" y="8160564"/>
            <a:ext cx="907423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  <a:spcBef>
                <a:spcPct val="0"/>
              </a:spcBef>
            </a:pPr>
            <a:r>
              <a:rPr lang="en-US" sz="2600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 modus sulit dilihat satu per satu karena harus dibandingkan: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48687" y="8818293"/>
            <a:ext cx="3701863" cy="1063886"/>
            <a:chOff x="0" y="0"/>
            <a:chExt cx="709472" cy="2038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9472" cy="203896"/>
            </a:xfrm>
            <a:custGeom>
              <a:avLst/>
              <a:gdLst/>
              <a:ahLst/>
              <a:cxnLst/>
              <a:rect r="r" b="b" t="t" l="l"/>
              <a:pathLst>
                <a:path h="203896" w="709472">
                  <a:moveTo>
                    <a:pt x="48101" y="0"/>
                  </a:moveTo>
                  <a:lnTo>
                    <a:pt x="661370" y="0"/>
                  </a:lnTo>
                  <a:cubicBezTo>
                    <a:pt x="674128" y="0"/>
                    <a:pt x="686362" y="5068"/>
                    <a:pt x="695383" y="14089"/>
                  </a:cubicBezTo>
                  <a:cubicBezTo>
                    <a:pt x="704404" y="23109"/>
                    <a:pt x="709472" y="35344"/>
                    <a:pt x="709472" y="48101"/>
                  </a:cubicBezTo>
                  <a:lnTo>
                    <a:pt x="709472" y="155795"/>
                  </a:lnTo>
                  <a:cubicBezTo>
                    <a:pt x="709472" y="168553"/>
                    <a:pt x="704404" y="180787"/>
                    <a:pt x="695383" y="189808"/>
                  </a:cubicBezTo>
                  <a:cubicBezTo>
                    <a:pt x="686362" y="198829"/>
                    <a:pt x="674128" y="203896"/>
                    <a:pt x="661370" y="203896"/>
                  </a:cubicBezTo>
                  <a:lnTo>
                    <a:pt x="48101" y="203896"/>
                  </a:lnTo>
                  <a:cubicBezTo>
                    <a:pt x="21536" y="203896"/>
                    <a:pt x="0" y="182361"/>
                    <a:pt x="0" y="155795"/>
                  </a:cubicBezTo>
                  <a:lnTo>
                    <a:pt x="0" y="48101"/>
                  </a:lnTo>
                  <a:cubicBezTo>
                    <a:pt x="0" y="21536"/>
                    <a:pt x="21536" y="0"/>
                    <a:pt x="48101" y="0"/>
                  </a:cubicBezTo>
                  <a:close/>
                </a:path>
              </a:pathLst>
            </a:custGeom>
            <a:solidFill>
              <a:srgbClr val="C6DED1"/>
            </a:solidFill>
            <a:ln cap="rnd">
              <a:noFill/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996731" y="8827818"/>
            <a:ext cx="3701863" cy="1063886"/>
            <a:chOff x="0" y="0"/>
            <a:chExt cx="709472" cy="2038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9472" cy="203896"/>
            </a:xfrm>
            <a:custGeom>
              <a:avLst/>
              <a:gdLst/>
              <a:ahLst/>
              <a:cxnLst/>
              <a:rect r="r" b="b" t="t" l="l"/>
              <a:pathLst>
                <a:path h="203896" w="709472">
                  <a:moveTo>
                    <a:pt x="48101" y="0"/>
                  </a:moveTo>
                  <a:lnTo>
                    <a:pt x="661370" y="0"/>
                  </a:lnTo>
                  <a:cubicBezTo>
                    <a:pt x="674128" y="0"/>
                    <a:pt x="686362" y="5068"/>
                    <a:pt x="695383" y="14089"/>
                  </a:cubicBezTo>
                  <a:cubicBezTo>
                    <a:pt x="704404" y="23109"/>
                    <a:pt x="709472" y="35344"/>
                    <a:pt x="709472" y="48101"/>
                  </a:cubicBezTo>
                  <a:lnTo>
                    <a:pt x="709472" y="155795"/>
                  </a:lnTo>
                  <a:cubicBezTo>
                    <a:pt x="709472" y="168553"/>
                    <a:pt x="704404" y="180787"/>
                    <a:pt x="695383" y="189808"/>
                  </a:cubicBezTo>
                  <a:cubicBezTo>
                    <a:pt x="686362" y="198829"/>
                    <a:pt x="674128" y="203896"/>
                    <a:pt x="661370" y="203896"/>
                  </a:cubicBezTo>
                  <a:lnTo>
                    <a:pt x="48101" y="203896"/>
                  </a:lnTo>
                  <a:cubicBezTo>
                    <a:pt x="21536" y="203896"/>
                    <a:pt x="0" y="182361"/>
                    <a:pt x="0" y="155795"/>
                  </a:cubicBezTo>
                  <a:lnTo>
                    <a:pt x="0" y="48101"/>
                  </a:lnTo>
                  <a:cubicBezTo>
                    <a:pt x="0" y="21536"/>
                    <a:pt x="21536" y="0"/>
                    <a:pt x="48101" y="0"/>
                  </a:cubicBezTo>
                  <a:close/>
                </a:path>
              </a:pathLst>
            </a:custGeom>
            <a:solidFill>
              <a:srgbClr val="C6DED1"/>
            </a:solidFill>
            <a:ln cap="rnd">
              <a:noFill/>
              <a:prstDash val="solid"/>
              <a:round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060178" y="8827818"/>
            <a:ext cx="3701863" cy="1063886"/>
            <a:chOff x="0" y="0"/>
            <a:chExt cx="709472" cy="2038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9472" cy="203896"/>
            </a:xfrm>
            <a:custGeom>
              <a:avLst/>
              <a:gdLst/>
              <a:ahLst/>
              <a:cxnLst/>
              <a:rect r="r" b="b" t="t" l="l"/>
              <a:pathLst>
                <a:path h="203896" w="709472">
                  <a:moveTo>
                    <a:pt x="48101" y="0"/>
                  </a:moveTo>
                  <a:lnTo>
                    <a:pt x="661370" y="0"/>
                  </a:lnTo>
                  <a:cubicBezTo>
                    <a:pt x="674128" y="0"/>
                    <a:pt x="686362" y="5068"/>
                    <a:pt x="695383" y="14089"/>
                  </a:cubicBezTo>
                  <a:cubicBezTo>
                    <a:pt x="704404" y="23109"/>
                    <a:pt x="709472" y="35344"/>
                    <a:pt x="709472" y="48101"/>
                  </a:cubicBezTo>
                  <a:lnTo>
                    <a:pt x="709472" y="155795"/>
                  </a:lnTo>
                  <a:cubicBezTo>
                    <a:pt x="709472" y="168553"/>
                    <a:pt x="704404" y="180787"/>
                    <a:pt x="695383" y="189808"/>
                  </a:cubicBezTo>
                  <a:cubicBezTo>
                    <a:pt x="686362" y="198829"/>
                    <a:pt x="674128" y="203896"/>
                    <a:pt x="661370" y="203896"/>
                  </a:cubicBezTo>
                  <a:lnTo>
                    <a:pt x="48101" y="203896"/>
                  </a:lnTo>
                  <a:cubicBezTo>
                    <a:pt x="21536" y="203896"/>
                    <a:pt x="0" y="182361"/>
                    <a:pt x="0" y="155795"/>
                  </a:cubicBezTo>
                  <a:lnTo>
                    <a:pt x="0" y="48101"/>
                  </a:lnTo>
                  <a:cubicBezTo>
                    <a:pt x="0" y="21536"/>
                    <a:pt x="21536" y="0"/>
                    <a:pt x="48101" y="0"/>
                  </a:cubicBezTo>
                  <a:close/>
                </a:path>
              </a:pathLst>
            </a:custGeom>
            <a:solidFill>
              <a:srgbClr val="C6DED1"/>
            </a:solidFill>
            <a:ln cap="rnd">
              <a:noFill/>
              <a:prstDash val="solid"/>
              <a:round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544775" y="8818293"/>
            <a:ext cx="3701863" cy="1063886"/>
            <a:chOff x="0" y="0"/>
            <a:chExt cx="709472" cy="2038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9472" cy="203896"/>
            </a:xfrm>
            <a:custGeom>
              <a:avLst/>
              <a:gdLst/>
              <a:ahLst/>
              <a:cxnLst/>
              <a:rect r="r" b="b" t="t" l="l"/>
              <a:pathLst>
                <a:path h="203896" w="709472">
                  <a:moveTo>
                    <a:pt x="48101" y="0"/>
                  </a:moveTo>
                  <a:lnTo>
                    <a:pt x="661370" y="0"/>
                  </a:lnTo>
                  <a:cubicBezTo>
                    <a:pt x="674128" y="0"/>
                    <a:pt x="686362" y="5068"/>
                    <a:pt x="695383" y="14089"/>
                  </a:cubicBezTo>
                  <a:cubicBezTo>
                    <a:pt x="704404" y="23109"/>
                    <a:pt x="709472" y="35344"/>
                    <a:pt x="709472" y="48101"/>
                  </a:cubicBezTo>
                  <a:lnTo>
                    <a:pt x="709472" y="155795"/>
                  </a:lnTo>
                  <a:cubicBezTo>
                    <a:pt x="709472" y="168553"/>
                    <a:pt x="704404" y="180787"/>
                    <a:pt x="695383" y="189808"/>
                  </a:cubicBezTo>
                  <a:cubicBezTo>
                    <a:pt x="686362" y="198829"/>
                    <a:pt x="674128" y="203896"/>
                    <a:pt x="661370" y="203896"/>
                  </a:cubicBezTo>
                  <a:lnTo>
                    <a:pt x="48101" y="203896"/>
                  </a:lnTo>
                  <a:cubicBezTo>
                    <a:pt x="21536" y="203896"/>
                    <a:pt x="0" y="182361"/>
                    <a:pt x="0" y="155795"/>
                  </a:cubicBezTo>
                  <a:lnTo>
                    <a:pt x="0" y="48101"/>
                  </a:lnTo>
                  <a:cubicBezTo>
                    <a:pt x="0" y="21536"/>
                    <a:pt x="21536" y="0"/>
                    <a:pt x="48101" y="0"/>
                  </a:cubicBezTo>
                  <a:close/>
                </a:path>
              </a:pathLst>
            </a:custGeom>
            <a:solidFill>
              <a:srgbClr val="C6DED1"/>
            </a:solidFill>
            <a:ln cap="rnd">
              <a:noFill/>
              <a:prstDash val="solid"/>
              <a:round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578204" y="8969236"/>
            <a:ext cx="344282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b="true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Repeat billing:</a:t>
            </a: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dibangdingkan dengan klaim sebenarnya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66953" y="8978761"/>
            <a:ext cx="344282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b="true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Claim cloning: </a:t>
            </a: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dibandingkan dengan klain lain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79068" y="8969236"/>
            <a:ext cx="344282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b="true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Inflated bills:</a:t>
            </a:r>
            <a:r>
              <a:rPr lang="en-US" sz="2199">
                <a:solidFill>
                  <a:srgbClr val="137A58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dibandingkan dengan kelompok sejenis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80089" y="8988286"/>
            <a:ext cx="354385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sz="2199" b="true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Upcoding: </a:t>
            </a: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dibandingkan lewat diagnosis, tindakan, nilai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8204" y="415290"/>
            <a:ext cx="907423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53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AKAR MASALAH &amp; CELAH SOLUSI SAAT INI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DECE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318112" y="2562786"/>
            <a:ext cx="7629544" cy="7157251"/>
            <a:chOff x="0" y="0"/>
            <a:chExt cx="10172726" cy="9543002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2393"/>
              <a:ext cx="10172726" cy="9540609"/>
              <a:chOff x="0" y="0"/>
              <a:chExt cx="2009427" cy="188456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9427" cy="1884565"/>
              </a:xfrm>
              <a:custGeom>
                <a:avLst/>
                <a:gdLst/>
                <a:ahLst/>
                <a:cxnLst/>
                <a:rect r="r" b="b" t="t" l="l"/>
                <a:pathLst>
                  <a:path h="1884565" w="2009427">
                    <a:moveTo>
                      <a:pt x="0" y="0"/>
                    </a:moveTo>
                    <a:lnTo>
                      <a:pt x="2009427" y="0"/>
                    </a:lnTo>
                    <a:lnTo>
                      <a:pt x="2009427" y="1884565"/>
                    </a:lnTo>
                    <a:lnTo>
                      <a:pt x="0" y="1884565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707070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009427" cy="19226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10172726" cy="918286"/>
              <a:chOff x="0" y="0"/>
              <a:chExt cx="2009427" cy="18139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009427" cy="181390"/>
              </a:xfrm>
              <a:custGeom>
                <a:avLst/>
                <a:gdLst/>
                <a:ahLst/>
                <a:cxnLst/>
                <a:rect r="r" b="b" t="t" l="l"/>
                <a:pathLst>
                  <a:path h="181390" w="2009427">
                    <a:moveTo>
                      <a:pt x="0" y="0"/>
                    </a:moveTo>
                    <a:lnTo>
                      <a:pt x="2009427" y="0"/>
                    </a:lnTo>
                    <a:lnTo>
                      <a:pt x="2009427" y="181390"/>
                    </a:lnTo>
                    <a:lnTo>
                      <a:pt x="0" y="181390"/>
                    </a:lnTo>
                    <a:close/>
                  </a:path>
                </a:pathLst>
              </a:custGeom>
              <a:solidFill>
                <a:srgbClr val="1B976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009427" cy="21949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</p:grpSp>
      <p:grpSp>
        <p:nvGrpSpPr>
          <p:cNvPr name="Group 11" id="11"/>
          <p:cNvGrpSpPr/>
          <p:nvPr/>
        </p:nvGrpSpPr>
        <p:grpSpPr>
          <a:xfrm rot="0">
            <a:off x="1028700" y="4978078"/>
            <a:ext cx="7494726" cy="2320042"/>
            <a:chOff x="0" y="0"/>
            <a:chExt cx="9992967" cy="309338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992967" cy="3093389"/>
              <a:chOff x="0" y="0"/>
              <a:chExt cx="1973919" cy="6110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973919" cy="611040"/>
              </a:xfrm>
              <a:custGeom>
                <a:avLst/>
                <a:gdLst/>
                <a:ahLst/>
                <a:cxnLst/>
                <a:rect r="r" b="b" t="t" l="l"/>
                <a:pathLst>
                  <a:path h="611040" w="1973919">
                    <a:moveTo>
                      <a:pt x="0" y="0"/>
                    </a:moveTo>
                    <a:lnTo>
                      <a:pt x="1973919" y="0"/>
                    </a:lnTo>
                    <a:lnTo>
                      <a:pt x="1973919" y="611040"/>
                    </a:lnTo>
                    <a:lnTo>
                      <a:pt x="0" y="611040"/>
                    </a:lnTo>
                    <a:close/>
                  </a:path>
                </a:pathLst>
              </a:custGeom>
              <a:solidFill>
                <a:srgbClr val="1B976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1973919" cy="6491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57225" y="1048811"/>
              <a:ext cx="474082" cy="730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78"/>
                </a:lnSpc>
              </a:pPr>
              <a:r>
                <a:rPr lang="en-US" sz="3270" b="true">
                  <a:solidFill>
                    <a:srgbClr val="03030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188817" y="426511"/>
              <a:ext cx="2421912" cy="73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9"/>
                </a:lnSpc>
                <a:spcBef>
                  <a:spcPct val="0"/>
                </a:spcBef>
              </a:pPr>
              <a:r>
                <a:rPr lang="en-US" sz="332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SEBERAPA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188817" y="1250851"/>
              <a:ext cx="7519228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9"/>
                </a:lnSpc>
                <a:spcBef>
                  <a:spcPct val="0"/>
                </a:spcBef>
              </a:pPr>
              <a:r>
                <a:rPr lang="en-US" sz="242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Seberapa bes</a:t>
              </a:r>
              <a:r>
                <a:rPr lang="en-US" b="true" sz="2424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 risikonya?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188817" y="1887866"/>
              <a:ext cx="7519228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  <a:spcBef>
                  <a:spcPct val="0"/>
                </a:spcBef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</a:t>
              </a: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isk Score 0-100 dan kategori Low sampai Critical.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8700" y="2562786"/>
            <a:ext cx="7494726" cy="2320042"/>
            <a:chOff x="0" y="0"/>
            <a:chExt cx="9992967" cy="309338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9992967" cy="3093389"/>
              <a:chOff x="0" y="0"/>
              <a:chExt cx="1973919" cy="61104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73919" cy="611040"/>
              </a:xfrm>
              <a:custGeom>
                <a:avLst/>
                <a:gdLst/>
                <a:ahLst/>
                <a:cxnLst/>
                <a:rect r="r" b="b" t="t" l="l"/>
                <a:pathLst>
                  <a:path h="611040" w="1973919">
                    <a:moveTo>
                      <a:pt x="0" y="0"/>
                    </a:moveTo>
                    <a:lnTo>
                      <a:pt x="1973919" y="0"/>
                    </a:lnTo>
                    <a:lnTo>
                      <a:pt x="1973919" y="611040"/>
                    </a:lnTo>
                    <a:lnTo>
                      <a:pt x="0" y="611040"/>
                    </a:lnTo>
                    <a:close/>
                  </a:path>
                </a:pathLst>
              </a:custGeom>
              <a:solidFill>
                <a:srgbClr val="1B976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973919" cy="64914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57225" y="1048811"/>
              <a:ext cx="474082" cy="730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78"/>
                </a:lnSpc>
              </a:pPr>
              <a:r>
                <a:rPr lang="en-US" sz="3270" b="true">
                  <a:solidFill>
                    <a:srgbClr val="03030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188817" y="426511"/>
              <a:ext cx="2421912" cy="73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9"/>
                </a:lnSpc>
                <a:spcBef>
                  <a:spcPct val="0"/>
                </a:spcBef>
              </a:pPr>
              <a:r>
                <a:rPr lang="en-US" sz="332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APA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188817" y="1250851"/>
              <a:ext cx="7519228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9"/>
                </a:lnSpc>
                <a:spcBef>
                  <a:spcPct val="0"/>
                </a:spcBef>
              </a:pPr>
              <a:r>
                <a:rPr lang="en-US" sz="242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Apa yang terdeteksi?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188817" y="1887866"/>
              <a:ext cx="7519228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  <a:spcBef>
                  <a:spcPct val="0"/>
                </a:spcBef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</a:t>
              </a: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isk Score 0-100 dan kategori Low sampai Critical.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7393369"/>
            <a:ext cx="7494726" cy="2326668"/>
            <a:chOff x="0" y="0"/>
            <a:chExt cx="9992967" cy="3102224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9992967" cy="3102224"/>
              <a:chOff x="0" y="0"/>
              <a:chExt cx="1973919" cy="612785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973919" cy="612785"/>
              </a:xfrm>
              <a:custGeom>
                <a:avLst/>
                <a:gdLst/>
                <a:ahLst/>
                <a:cxnLst/>
                <a:rect r="r" b="b" t="t" l="l"/>
                <a:pathLst>
                  <a:path h="612785" w="1973919">
                    <a:moveTo>
                      <a:pt x="0" y="0"/>
                    </a:moveTo>
                    <a:lnTo>
                      <a:pt x="1973919" y="0"/>
                    </a:lnTo>
                    <a:lnTo>
                      <a:pt x="1973919" y="612785"/>
                    </a:lnTo>
                    <a:lnTo>
                      <a:pt x="0" y="612785"/>
                    </a:lnTo>
                    <a:close/>
                  </a:path>
                </a:pathLst>
              </a:custGeom>
              <a:solidFill>
                <a:srgbClr val="1B976F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973919" cy="6508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657225" y="1048811"/>
              <a:ext cx="474082" cy="7306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78"/>
                </a:lnSpc>
              </a:pPr>
              <a:r>
                <a:rPr lang="en-US" sz="3270" b="true">
                  <a:solidFill>
                    <a:srgbClr val="03030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188817" y="426511"/>
              <a:ext cx="2807666" cy="73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9"/>
                </a:lnSpc>
                <a:spcBef>
                  <a:spcPct val="0"/>
                </a:spcBef>
              </a:pPr>
              <a:r>
                <a:rPr lang="en-US" sz="332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MENGAPA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2188817" y="1250851"/>
              <a:ext cx="7519228" cy="530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09"/>
                </a:lnSpc>
                <a:spcBef>
                  <a:spcPct val="0"/>
                </a:spcBef>
              </a:pPr>
              <a:r>
                <a:rPr lang="en-US" sz="242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Mengapa kl</a:t>
              </a:r>
              <a:r>
                <a:rPr lang="en-US" b="true" sz="2424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aim itu berisiko?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2188817" y="1887866"/>
              <a:ext cx="7519228" cy="850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  <a:spcBef>
                  <a:spcPct val="0"/>
                </a:spcBef>
              </a:pP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</a:t>
              </a:r>
              <a:r>
                <a:rPr lang="en-US" sz="20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ktor penyebab tiap klaim; urutan prioritas untuk verifikator.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669057" y="3828037"/>
            <a:ext cx="2862699" cy="858780"/>
            <a:chOff x="0" y="0"/>
            <a:chExt cx="753962" cy="22618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3962" cy="226181"/>
            </a:xfrm>
            <a:custGeom>
              <a:avLst/>
              <a:gdLst/>
              <a:ahLst/>
              <a:cxnLst/>
              <a:rect r="r" b="b" t="t" l="l"/>
              <a:pathLst>
                <a:path h="226181" w="753962">
                  <a:moveTo>
                    <a:pt x="59497" y="0"/>
                  </a:moveTo>
                  <a:lnTo>
                    <a:pt x="694465" y="0"/>
                  </a:lnTo>
                  <a:cubicBezTo>
                    <a:pt x="727324" y="0"/>
                    <a:pt x="753962" y="26638"/>
                    <a:pt x="753962" y="59497"/>
                  </a:cubicBezTo>
                  <a:lnTo>
                    <a:pt x="753962" y="166684"/>
                  </a:lnTo>
                  <a:cubicBezTo>
                    <a:pt x="753962" y="182463"/>
                    <a:pt x="747693" y="197597"/>
                    <a:pt x="736535" y="208754"/>
                  </a:cubicBezTo>
                  <a:cubicBezTo>
                    <a:pt x="725378" y="219912"/>
                    <a:pt x="710244" y="226181"/>
                    <a:pt x="694465" y="226181"/>
                  </a:cubicBezTo>
                  <a:lnTo>
                    <a:pt x="59497" y="226181"/>
                  </a:lnTo>
                  <a:cubicBezTo>
                    <a:pt x="43717" y="226181"/>
                    <a:pt x="28584" y="219912"/>
                    <a:pt x="17426" y="208754"/>
                  </a:cubicBezTo>
                  <a:cubicBezTo>
                    <a:pt x="6268" y="197597"/>
                    <a:pt x="0" y="182463"/>
                    <a:pt x="0" y="166684"/>
                  </a:cubicBezTo>
                  <a:lnTo>
                    <a:pt x="0" y="59497"/>
                  </a:lnTo>
                  <a:cubicBezTo>
                    <a:pt x="0" y="43717"/>
                    <a:pt x="6268" y="28584"/>
                    <a:pt x="17426" y="17426"/>
                  </a:cubicBezTo>
                  <a:cubicBezTo>
                    <a:pt x="28584" y="6268"/>
                    <a:pt x="43717" y="0"/>
                    <a:pt x="59497" y="0"/>
                  </a:cubicBezTo>
                  <a:close/>
                </a:path>
              </a:pathLst>
            </a:custGeom>
            <a:solidFill>
              <a:srgbClr val="FF575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53962" cy="2642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14963" y="5583741"/>
            <a:ext cx="6816793" cy="357291"/>
            <a:chOff x="0" y="0"/>
            <a:chExt cx="9089057" cy="476388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9089057" cy="476388"/>
              <a:chOff x="0" y="0"/>
              <a:chExt cx="1795369" cy="94101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795369" cy="94101"/>
              </a:xfrm>
              <a:custGeom>
                <a:avLst/>
                <a:gdLst/>
                <a:ahLst/>
                <a:cxnLst/>
                <a:rect r="r" b="b" t="t" l="l"/>
                <a:pathLst>
                  <a:path h="94101" w="1795369">
                    <a:moveTo>
                      <a:pt x="0" y="0"/>
                    </a:moveTo>
                    <a:lnTo>
                      <a:pt x="1795369" y="0"/>
                    </a:lnTo>
                    <a:lnTo>
                      <a:pt x="1795369" y="94101"/>
                    </a:lnTo>
                    <a:lnTo>
                      <a:pt x="0" y="94101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795369" cy="132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0" y="0"/>
              <a:ext cx="8470622" cy="476388"/>
              <a:chOff x="0" y="0"/>
              <a:chExt cx="1673209" cy="94101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673209" cy="94101"/>
              </a:xfrm>
              <a:custGeom>
                <a:avLst/>
                <a:gdLst/>
                <a:ahLst/>
                <a:cxnLst/>
                <a:rect r="r" b="b" t="t" l="l"/>
                <a:pathLst>
                  <a:path h="94101" w="1673209">
                    <a:moveTo>
                      <a:pt x="0" y="0"/>
                    </a:moveTo>
                    <a:lnTo>
                      <a:pt x="1673209" y="0"/>
                    </a:lnTo>
                    <a:lnTo>
                      <a:pt x="1673209" y="94101"/>
                    </a:lnTo>
                    <a:lnTo>
                      <a:pt x="0" y="94101"/>
                    </a:lnTo>
                    <a:close/>
                  </a:path>
                </a:pathLst>
              </a:custGeom>
              <a:solidFill>
                <a:srgbClr val="FF5757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38100"/>
                <a:ext cx="1673209" cy="132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</p:grpSp>
      <p:grpSp>
        <p:nvGrpSpPr>
          <p:cNvPr name="Group 45" id="45"/>
          <p:cNvGrpSpPr/>
          <p:nvPr/>
        </p:nvGrpSpPr>
        <p:grpSpPr>
          <a:xfrm rot="0">
            <a:off x="9714963" y="6585150"/>
            <a:ext cx="6816793" cy="357291"/>
            <a:chOff x="0" y="0"/>
            <a:chExt cx="9089057" cy="476388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9089057" cy="476388"/>
              <a:chOff x="0" y="0"/>
              <a:chExt cx="1795369" cy="94101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795369" cy="94101"/>
              </a:xfrm>
              <a:custGeom>
                <a:avLst/>
                <a:gdLst/>
                <a:ahLst/>
                <a:cxnLst/>
                <a:rect r="r" b="b" t="t" l="l"/>
                <a:pathLst>
                  <a:path h="94101" w="1795369">
                    <a:moveTo>
                      <a:pt x="0" y="0"/>
                    </a:moveTo>
                    <a:lnTo>
                      <a:pt x="1795369" y="0"/>
                    </a:lnTo>
                    <a:lnTo>
                      <a:pt x="1795369" y="94101"/>
                    </a:lnTo>
                    <a:lnTo>
                      <a:pt x="0" y="94101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1795369" cy="132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0"/>
              <a:ext cx="8293927" cy="476388"/>
              <a:chOff x="0" y="0"/>
              <a:chExt cx="1638306" cy="94101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638306" cy="94101"/>
              </a:xfrm>
              <a:custGeom>
                <a:avLst/>
                <a:gdLst/>
                <a:ahLst/>
                <a:cxnLst/>
                <a:rect r="r" b="b" t="t" l="l"/>
                <a:pathLst>
                  <a:path h="94101" w="1638306">
                    <a:moveTo>
                      <a:pt x="0" y="0"/>
                    </a:moveTo>
                    <a:lnTo>
                      <a:pt x="1638306" y="0"/>
                    </a:lnTo>
                    <a:lnTo>
                      <a:pt x="1638306" y="94101"/>
                    </a:lnTo>
                    <a:lnTo>
                      <a:pt x="0" y="94101"/>
                    </a:lnTo>
                    <a:close/>
                  </a:path>
                </a:pathLst>
              </a:custGeom>
              <a:solidFill>
                <a:srgbClr val="FF5757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1638306" cy="132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</p:grpSp>
      <p:grpSp>
        <p:nvGrpSpPr>
          <p:cNvPr name="Group 52" id="52"/>
          <p:cNvGrpSpPr/>
          <p:nvPr/>
        </p:nvGrpSpPr>
        <p:grpSpPr>
          <a:xfrm rot="0">
            <a:off x="9714963" y="7586203"/>
            <a:ext cx="6816793" cy="357291"/>
            <a:chOff x="0" y="0"/>
            <a:chExt cx="9089057" cy="476388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0"/>
              <a:ext cx="9089057" cy="476388"/>
              <a:chOff x="0" y="0"/>
              <a:chExt cx="1795369" cy="9410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1795369" cy="94101"/>
              </a:xfrm>
              <a:custGeom>
                <a:avLst/>
                <a:gdLst/>
                <a:ahLst/>
                <a:cxnLst/>
                <a:rect r="r" b="b" t="t" l="l"/>
                <a:pathLst>
                  <a:path h="94101" w="1795369">
                    <a:moveTo>
                      <a:pt x="0" y="0"/>
                    </a:moveTo>
                    <a:lnTo>
                      <a:pt x="1795369" y="0"/>
                    </a:lnTo>
                    <a:lnTo>
                      <a:pt x="1795369" y="94101"/>
                    </a:lnTo>
                    <a:lnTo>
                      <a:pt x="0" y="94101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1795369" cy="132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0" y="0"/>
              <a:ext cx="7476709" cy="476388"/>
              <a:chOff x="0" y="0"/>
              <a:chExt cx="1476881" cy="94101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1476881" cy="94101"/>
              </a:xfrm>
              <a:custGeom>
                <a:avLst/>
                <a:gdLst/>
                <a:ahLst/>
                <a:cxnLst/>
                <a:rect r="r" b="b" t="t" l="l"/>
                <a:pathLst>
                  <a:path h="94101" w="1476881">
                    <a:moveTo>
                      <a:pt x="0" y="0"/>
                    </a:moveTo>
                    <a:lnTo>
                      <a:pt x="1476881" y="0"/>
                    </a:lnTo>
                    <a:lnTo>
                      <a:pt x="1476881" y="94101"/>
                    </a:lnTo>
                    <a:lnTo>
                      <a:pt x="0" y="94101"/>
                    </a:ln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38100"/>
                <a:ext cx="1476881" cy="132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</p:grpSp>
      <p:grpSp>
        <p:nvGrpSpPr>
          <p:cNvPr name="Group 59" id="59"/>
          <p:cNvGrpSpPr/>
          <p:nvPr/>
        </p:nvGrpSpPr>
        <p:grpSpPr>
          <a:xfrm rot="0">
            <a:off x="9714963" y="8400694"/>
            <a:ext cx="6816793" cy="857606"/>
            <a:chOff x="0" y="0"/>
            <a:chExt cx="1795369" cy="2258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95369" cy="225872"/>
            </a:xfrm>
            <a:custGeom>
              <a:avLst/>
              <a:gdLst/>
              <a:ahLst/>
              <a:cxnLst/>
              <a:rect r="r" b="b" t="t" l="l"/>
              <a:pathLst>
                <a:path h="225872" w="1795369">
                  <a:moveTo>
                    <a:pt x="24986" y="0"/>
                  </a:moveTo>
                  <a:lnTo>
                    <a:pt x="1770384" y="0"/>
                  </a:lnTo>
                  <a:cubicBezTo>
                    <a:pt x="1784183" y="0"/>
                    <a:pt x="1795369" y="11186"/>
                    <a:pt x="1795369" y="24986"/>
                  </a:cubicBezTo>
                  <a:lnTo>
                    <a:pt x="1795369" y="200886"/>
                  </a:lnTo>
                  <a:cubicBezTo>
                    <a:pt x="1795369" y="207512"/>
                    <a:pt x="1792737" y="213868"/>
                    <a:pt x="1788051" y="218553"/>
                  </a:cubicBezTo>
                  <a:cubicBezTo>
                    <a:pt x="1783365" y="223239"/>
                    <a:pt x="1777010" y="225872"/>
                    <a:pt x="1770384" y="225872"/>
                  </a:cubicBezTo>
                  <a:lnTo>
                    <a:pt x="24986" y="225872"/>
                  </a:lnTo>
                  <a:cubicBezTo>
                    <a:pt x="18359" y="225872"/>
                    <a:pt x="12004" y="223239"/>
                    <a:pt x="7318" y="218553"/>
                  </a:cubicBezTo>
                  <a:cubicBezTo>
                    <a:pt x="2632" y="213868"/>
                    <a:pt x="0" y="207512"/>
                    <a:pt x="0" y="200886"/>
                  </a:cubicBezTo>
                  <a:lnTo>
                    <a:pt x="0" y="24986"/>
                  </a:lnTo>
                  <a:cubicBezTo>
                    <a:pt x="0" y="18359"/>
                    <a:pt x="2632" y="12004"/>
                    <a:pt x="7318" y="7318"/>
                  </a:cubicBezTo>
                  <a:cubicBezTo>
                    <a:pt x="12004" y="2632"/>
                    <a:pt x="18359" y="0"/>
                    <a:pt x="24986" y="0"/>
                  </a:cubicBezTo>
                  <a:close/>
                </a:path>
              </a:pathLst>
            </a:custGeom>
            <a:solidFill>
              <a:srgbClr val="3A6062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795369" cy="2639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0"/>
                </a:lnSpc>
              </a:pPr>
            </a:p>
          </p:txBody>
        </p:sp>
      </p:grpSp>
      <p:sp>
        <p:nvSpPr>
          <p:cNvPr name="TextBox 62" id="62" descr="$PPTXTitle"/>
          <p:cNvSpPr txBox="true"/>
          <p:nvPr/>
        </p:nvSpPr>
        <p:spPr>
          <a:xfrm rot="0">
            <a:off x="1001839" y="1257861"/>
            <a:ext cx="15724882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4875" b="true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Dari Tumpuka</a:t>
            </a:r>
            <a:r>
              <a:rPr lang="en-US" sz="4875" b="true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 Klaim ke Daftar Prioritas yang Bisa Dijelaskan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28700" y="9796237"/>
            <a:ext cx="639678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b="true" sz="2025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Skor adalah prioritas pemeriksaan, bukan vonis kecurangan.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715008" y="3415773"/>
            <a:ext cx="1152971" cy="1363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33"/>
              </a:lnSpc>
            </a:pPr>
            <a:r>
              <a:rPr lang="en-US" b="true" sz="7952">
                <a:solidFill>
                  <a:srgbClr val="FF575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94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629756" y="2722309"/>
            <a:ext cx="762954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  <a:spcBef>
                <a:spcPct val="0"/>
              </a:spcBef>
            </a:pPr>
            <a:r>
              <a:rPr lang="en-US" sz="222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</a:t>
            </a:r>
            <a:r>
              <a:rPr lang="en-US" b="true" sz="222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aim ID: CLM-00231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858500" y="4030796"/>
            <a:ext cx="1892742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/100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4358870" y="4030796"/>
            <a:ext cx="1483072" cy="37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</a:pPr>
            <a:r>
              <a:rPr lang="en-US" sz="203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CRI</a:t>
            </a:r>
            <a:r>
              <a:rPr lang="en-US" b="true" sz="203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TICAL RISK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714963" y="5067300"/>
            <a:ext cx="3074343" cy="37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</a:pPr>
            <a:r>
              <a:rPr lang="en-US" sz="2030">
                <a:solidFill>
                  <a:srgbClr val="030303"/>
                </a:solidFill>
                <a:latin typeface="Calibri (MS)"/>
                <a:ea typeface="Calibri (MS)"/>
                <a:cs typeface="Calibri (MS)"/>
                <a:sym typeface="Calibri (MS)"/>
              </a:rPr>
              <a:t>Kemiripan klaim sangat tinggi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714963" y="6065212"/>
            <a:ext cx="3074343" cy="37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</a:pPr>
            <a:r>
              <a:rPr lang="en-US" sz="2030">
                <a:solidFill>
                  <a:srgbClr val="030303"/>
                </a:solidFill>
                <a:latin typeface="Calibri (MS)"/>
                <a:ea typeface="Calibri (MS)"/>
                <a:cs typeface="Calibri (MS)"/>
                <a:sym typeface="Calibri (MS)"/>
              </a:rPr>
              <a:t>Kemiripan klaim sangat tinggi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714963" y="7066265"/>
            <a:ext cx="3074343" cy="37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</a:pPr>
            <a:r>
              <a:rPr lang="en-US" sz="2030">
                <a:solidFill>
                  <a:srgbClr val="030303"/>
                </a:solidFill>
                <a:latin typeface="Calibri (MS)"/>
                <a:ea typeface="Calibri (MS)"/>
                <a:cs typeface="Calibri (MS)"/>
                <a:sym typeface="Calibri (MS)"/>
              </a:rPr>
              <a:t>Kemiripan klaim sangat tinggi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497105" y="8602866"/>
            <a:ext cx="2584400" cy="37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2"/>
              </a:lnSpc>
            </a:pPr>
            <a:r>
              <a:rPr lang="en-US" sz="203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Lihat Klaim Pembanding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840869" y="9796237"/>
            <a:ext cx="310678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20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Contoh ilustrasi, data simulasi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85850" y="536115"/>
            <a:ext cx="907423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53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SOLUSI SEKILAS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DECE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6036123"/>
            <a:ext cx="16230600" cy="2570647"/>
            <a:chOff x="0" y="0"/>
            <a:chExt cx="21640800" cy="342752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949424"/>
              <a:ext cx="21640800" cy="1486452"/>
              <a:chOff x="0" y="0"/>
              <a:chExt cx="4274726" cy="29362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274726" cy="293620"/>
              </a:xfrm>
              <a:custGeom>
                <a:avLst/>
                <a:gdLst/>
                <a:ahLst/>
                <a:cxnLst/>
                <a:rect r="r" b="b" t="t" l="l"/>
                <a:pathLst>
                  <a:path h="293620" w="4274726">
                    <a:moveTo>
                      <a:pt x="0" y="0"/>
                    </a:moveTo>
                    <a:lnTo>
                      <a:pt x="4274726" y="0"/>
                    </a:lnTo>
                    <a:lnTo>
                      <a:pt x="4274726" y="293620"/>
                    </a:lnTo>
                    <a:lnTo>
                      <a:pt x="0" y="293620"/>
                    </a:ln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4274726" cy="3317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3008456" y="949424"/>
              <a:ext cx="7932924" cy="1486452"/>
              <a:chOff x="0" y="0"/>
              <a:chExt cx="1566997" cy="29362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566997" cy="293620"/>
              </a:xfrm>
              <a:custGeom>
                <a:avLst/>
                <a:gdLst/>
                <a:ahLst/>
                <a:cxnLst/>
                <a:rect r="r" b="b" t="t" l="l"/>
                <a:pathLst>
                  <a:path h="293620" w="1566997">
                    <a:moveTo>
                      <a:pt x="0" y="0"/>
                    </a:moveTo>
                    <a:lnTo>
                      <a:pt x="1566997" y="0"/>
                    </a:lnTo>
                    <a:lnTo>
                      <a:pt x="1566997" y="293620"/>
                    </a:lnTo>
                    <a:lnTo>
                      <a:pt x="0" y="293620"/>
                    </a:lnTo>
                    <a:close/>
                  </a:path>
                </a:pathLst>
              </a:custGeom>
              <a:solidFill>
                <a:srgbClr val="FFA51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566997" cy="3317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6504228" y="949424"/>
              <a:ext cx="12753341" cy="1486452"/>
              <a:chOff x="0" y="0"/>
              <a:chExt cx="2519178" cy="29362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519179" cy="293620"/>
              </a:xfrm>
              <a:custGeom>
                <a:avLst/>
                <a:gdLst/>
                <a:ahLst/>
                <a:cxnLst/>
                <a:rect r="r" b="b" t="t" l="l"/>
                <a:pathLst>
                  <a:path h="293620" w="2519179">
                    <a:moveTo>
                      <a:pt x="0" y="0"/>
                    </a:moveTo>
                    <a:lnTo>
                      <a:pt x="2519179" y="0"/>
                    </a:lnTo>
                    <a:lnTo>
                      <a:pt x="2519179" y="293620"/>
                    </a:lnTo>
                    <a:lnTo>
                      <a:pt x="0" y="29362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519178" cy="3317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949424"/>
              <a:ext cx="16074887" cy="1486452"/>
              <a:chOff x="0" y="0"/>
              <a:chExt cx="3175286" cy="29362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175286" cy="293620"/>
              </a:xfrm>
              <a:custGeom>
                <a:avLst/>
                <a:gdLst/>
                <a:ahLst/>
                <a:cxnLst/>
                <a:rect r="r" b="b" t="t" l="l"/>
                <a:pathLst>
                  <a:path h="293620" w="3175286">
                    <a:moveTo>
                      <a:pt x="0" y="0"/>
                    </a:moveTo>
                    <a:lnTo>
                      <a:pt x="3175286" y="0"/>
                    </a:lnTo>
                    <a:lnTo>
                      <a:pt x="3175286" y="293620"/>
                    </a:lnTo>
                    <a:lnTo>
                      <a:pt x="0" y="293620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3175286" cy="33172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-47625"/>
              <a:ext cx="12200600" cy="54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0303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Sken</a:t>
              </a:r>
              <a:r>
                <a:rPr lang="en-US" sz="2499" b="true">
                  <a:solidFill>
                    <a:srgbClr val="03030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ario: dari 10.000 klaim, verifikator mulai dari kelompok Critical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7337099" y="254000"/>
              <a:ext cx="3840942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0"/>
                </a:lnSpc>
                <a:spcBef>
                  <a:spcPct val="0"/>
                </a:spcBef>
              </a:pPr>
              <a:r>
                <a:rPr lang="en-US" b="true" sz="2025">
                  <a:solidFill>
                    <a:srgbClr val="FF313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▼ Mulai dari sini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0" y="3004757"/>
              <a:ext cx="820144" cy="410072"/>
              <a:chOff x="0" y="0"/>
              <a:chExt cx="812800" cy="4064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77800" y="-38100"/>
                <a:ext cx="5588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963775" y="2983029"/>
              <a:ext cx="1428155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0"/>
                </a:lnSpc>
                <a:spcBef>
                  <a:spcPct val="0"/>
                </a:spcBef>
              </a:pPr>
              <a:r>
                <a:rPr lang="en-US" sz="202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</a:t>
              </a:r>
              <a:r>
                <a:rPr lang="en-US" sz="202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8.420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5476845" y="3004757"/>
              <a:ext cx="820144" cy="410072"/>
              <a:chOff x="0" y="0"/>
              <a:chExt cx="812800" cy="406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77800" y="-38100"/>
                <a:ext cx="5588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6440620" y="2983029"/>
              <a:ext cx="2068676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0"/>
                </a:lnSpc>
                <a:spcBef>
                  <a:spcPct val="0"/>
                </a:spcBef>
              </a:pPr>
              <a:r>
                <a:rPr lang="en-US" sz="202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Medium</a:t>
              </a:r>
              <a:r>
                <a:rPr lang="en-US" sz="202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1.100</a:t>
              </a:r>
            </a:p>
          </p:txBody>
        </p:sp>
        <p:grpSp>
          <p:nvGrpSpPr>
            <p:cNvPr name="Group 27" id="27"/>
            <p:cNvGrpSpPr/>
            <p:nvPr/>
          </p:nvGrpSpPr>
          <p:grpSpPr>
            <a:xfrm rot="0">
              <a:off x="10953689" y="3004757"/>
              <a:ext cx="820144" cy="410072"/>
              <a:chOff x="0" y="0"/>
              <a:chExt cx="812800" cy="406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A51F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77800" y="-38100"/>
                <a:ext cx="5588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1917465" y="2983029"/>
              <a:ext cx="1428155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0"/>
                </a:lnSpc>
                <a:spcBef>
                  <a:spcPct val="0"/>
                </a:spcBef>
              </a:pPr>
              <a:r>
                <a:rPr lang="en-US" sz="202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</a:t>
              </a:r>
              <a:r>
                <a:rPr lang="en-US" sz="202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380</a:t>
              </a:r>
            </a:p>
          </p:txBody>
        </p:sp>
        <p:grpSp>
          <p:nvGrpSpPr>
            <p:cNvPr name="Group 31" id="31"/>
            <p:cNvGrpSpPr/>
            <p:nvPr/>
          </p:nvGrpSpPr>
          <p:grpSpPr>
            <a:xfrm rot="0">
              <a:off x="16430534" y="3004757"/>
              <a:ext cx="820144" cy="410072"/>
              <a:chOff x="0" y="0"/>
              <a:chExt cx="812800" cy="4064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3131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177800" y="-38100"/>
                <a:ext cx="5588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7394309" y="2983029"/>
              <a:ext cx="1560676" cy="44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0"/>
                </a:lnSpc>
                <a:spcBef>
                  <a:spcPct val="0"/>
                </a:spcBef>
              </a:pPr>
              <a:r>
                <a:rPr lang="en-US" sz="202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Critical</a:t>
              </a:r>
              <a:r>
                <a:rPr lang="en-US" sz="2025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100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8700" y="3132427"/>
            <a:ext cx="14350335" cy="2541746"/>
            <a:chOff x="0" y="0"/>
            <a:chExt cx="19133780" cy="3388995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19050" y="0"/>
              <a:ext cx="4114800" cy="2057400"/>
              <a:chOff x="0" y="0"/>
              <a:chExt cx="812800" cy="4064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0BB82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177800" y="-38100"/>
                <a:ext cx="5588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3773025" y="0"/>
              <a:ext cx="4114800" cy="2057400"/>
              <a:chOff x="0" y="0"/>
              <a:chExt cx="812800" cy="4064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177800" y="-38100"/>
                <a:ext cx="5588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7521677" y="0"/>
              <a:ext cx="4114800" cy="2057400"/>
              <a:chOff x="0" y="0"/>
              <a:chExt cx="812800" cy="4064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21F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177800" y="-38100"/>
                <a:ext cx="5588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1270328" y="0"/>
              <a:ext cx="4114800" cy="2057400"/>
              <a:chOff x="0" y="0"/>
              <a:chExt cx="812800" cy="4064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A51F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177800" y="-38100"/>
                <a:ext cx="5588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5018980" y="0"/>
              <a:ext cx="4114800" cy="2057400"/>
              <a:chOff x="0" y="0"/>
              <a:chExt cx="812800" cy="40640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751F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177800" y="-38100"/>
                <a:ext cx="5588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30"/>
                  </a:lnSpc>
                </a:pPr>
              </a:p>
            </p:txBody>
          </p:sp>
        </p:grpSp>
        <p:sp>
          <p:nvSpPr>
            <p:cNvPr name="TextBox 51" id="51"/>
            <p:cNvSpPr txBox="true"/>
            <p:nvPr/>
          </p:nvSpPr>
          <p:spPr>
            <a:xfrm rot="0">
              <a:off x="0" y="2290092"/>
              <a:ext cx="3241647" cy="697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en-US" sz="1950">
                  <a:solidFill>
                    <a:srgbClr val="45454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Data klaim dibersihkan dan dinormalisasi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1269805" y="508000"/>
              <a:ext cx="2282350" cy="1003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54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Ingest &amp; Cleaning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5040544" y="508000"/>
              <a:ext cx="2282350" cy="1003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54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2. Feature Extraction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8789525" y="508000"/>
              <a:ext cx="2282350" cy="1003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54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Risk Detection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12538506" y="508000"/>
              <a:ext cx="2282350" cy="1003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54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Scoring &amp; Explanation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16287487" y="508000"/>
              <a:ext cx="2282350" cy="1003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54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 Priority &amp; Dashboard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3773025" y="2360930"/>
              <a:ext cx="3241647" cy="10280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en-US" sz="1950">
                  <a:solidFill>
                    <a:srgbClr val="45454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Frekuensi, nilai, kemiripan, kombinasi kode dihitung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7546050" y="2431768"/>
              <a:ext cx="3241647" cy="697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en-US" sz="1950">
                  <a:solidFill>
                    <a:srgbClr val="45454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Pola tidak wajar dicari per modus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1319074" y="2502606"/>
              <a:ext cx="3241647" cy="697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en-US" sz="1950">
                  <a:solidFill>
                    <a:srgbClr val="45454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Skor 0-100 + faktor penyebab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15092099" y="2573444"/>
              <a:ext cx="3241647" cy="6978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50"/>
                </a:lnSpc>
              </a:pPr>
              <a:r>
                <a:rPr lang="en-US" sz="1950">
                  <a:solidFill>
                    <a:srgbClr val="45454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Daftar prioritas untuk verifikator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5813819" y="3132427"/>
            <a:ext cx="2141883" cy="1630073"/>
            <a:chOff x="0" y="0"/>
            <a:chExt cx="564117" cy="4293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64117" cy="429320"/>
            </a:xfrm>
            <a:custGeom>
              <a:avLst/>
              <a:gdLst/>
              <a:ahLst/>
              <a:cxnLst/>
              <a:rect r="r" b="b" t="t" l="l"/>
              <a:pathLst>
                <a:path h="429320" w="564117">
                  <a:moveTo>
                    <a:pt x="79520" y="0"/>
                  </a:moveTo>
                  <a:lnTo>
                    <a:pt x="484597" y="0"/>
                  </a:lnTo>
                  <a:cubicBezTo>
                    <a:pt x="528515" y="0"/>
                    <a:pt x="564117" y="35602"/>
                    <a:pt x="564117" y="79520"/>
                  </a:cubicBezTo>
                  <a:lnTo>
                    <a:pt x="564117" y="349800"/>
                  </a:lnTo>
                  <a:cubicBezTo>
                    <a:pt x="564117" y="393717"/>
                    <a:pt x="528515" y="429320"/>
                    <a:pt x="484597" y="429320"/>
                  </a:cubicBezTo>
                  <a:lnTo>
                    <a:pt x="79520" y="429320"/>
                  </a:lnTo>
                  <a:cubicBezTo>
                    <a:pt x="35602" y="429320"/>
                    <a:pt x="0" y="393717"/>
                    <a:pt x="0" y="349800"/>
                  </a:cubicBezTo>
                  <a:lnTo>
                    <a:pt x="0" y="79520"/>
                  </a:lnTo>
                  <a:cubicBezTo>
                    <a:pt x="0" y="35602"/>
                    <a:pt x="35602" y="0"/>
                    <a:pt x="79520" y="0"/>
                  </a:cubicBezTo>
                  <a:close/>
                </a:path>
              </a:pathLst>
            </a:custGeom>
            <a:solidFill>
              <a:srgbClr val="1B976F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564117" cy="467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30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1028700" y="8884825"/>
            <a:ext cx="16013430" cy="37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1950">
                <a:solidFill>
                  <a:srgbClr val="454545"/>
                </a:solidFill>
                <a:latin typeface="Source Sans 3"/>
                <a:ea typeface="Source Sans 3"/>
                <a:cs typeface="Source Sans 3"/>
                <a:sym typeface="Source Sans 3"/>
              </a:rPr>
              <a:t>Co</a:t>
            </a:r>
            <a:r>
              <a:rPr lang="en-US" sz="1950">
                <a:solidFill>
                  <a:srgbClr val="454545"/>
                </a:solidFill>
                <a:latin typeface="Source Sans 3"/>
                <a:ea typeface="Source Sans 3"/>
                <a:cs typeface="Source Sans 3"/>
                <a:sym typeface="Source Sans 3"/>
              </a:rPr>
              <a:t>ntoh klaim: CLM-00231 → skor 91 → Critical → faktor: kemiripan klaim, deviasi nilai, frekuensi layanan.</a:t>
            </a:r>
          </a:p>
        </p:txBody>
      </p:sp>
      <p:sp>
        <p:nvSpPr>
          <p:cNvPr name="TextBox 65" id="65" descr="$PPTXTitle"/>
          <p:cNvSpPr txBox="true"/>
          <p:nvPr/>
        </p:nvSpPr>
        <p:spPr>
          <a:xfrm rot="0">
            <a:off x="985838" y="1620051"/>
            <a:ext cx="141351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4875" b="true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Lima Tahap dari Data Klaim k</a:t>
            </a:r>
            <a:r>
              <a:rPr lang="en-US" sz="4875" b="true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 Keputusan Pemeriksaan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5813819" y="3452164"/>
            <a:ext cx="214188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2025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Keputusan verifikator (human-in-the-loop)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5518564" y="5026473"/>
            <a:ext cx="243713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  <a:spcBef>
                <a:spcPct val="0"/>
              </a:spcBef>
            </a:pPr>
            <a:r>
              <a:rPr lang="en-US" sz="202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AI membantu, manusia memutuskan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28700" y="833437"/>
            <a:ext cx="907423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53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ALUR KERJA &amp; SKENARIO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DECE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0095" y="920115"/>
            <a:ext cx="16459200" cy="1005840"/>
            <a:chOff x="0" y="0"/>
            <a:chExt cx="2194560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Empat Modus Fokus, Empat Sinyal yang Terukur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731520" y="2011680"/>
          <a:ext cx="14325600" cy="6426200"/>
        </p:xfrm>
        <a:graphic>
          <a:graphicData uri="http://schemas.openxmlformats.org/drawingml/2006/table">
            <a:tbl>
              <a:tblPr/>
              <a:tblGrid>
                <a:gridCol w="2471493"/>
                <a:gridCol w="4011772"/>
                <a:gridCol w="4555400"/>
                <a:gridCol w="3286935"/>
              </a:tblGrid>
              <a:tr h="64607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Modus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Sinyal yang dicari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Fitur utama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Pendekatan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1445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3A89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Repeat Billing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Klaim berulang untuk episode layanan yang sama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Selisih hari antar klaim, tumpang tindih tanggal layanan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Aturan jendela waktu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1445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3A89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Claim Cloning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Struktur klaim nyaris identik antar klaim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Skor kemiripan kombinasi diagnosis, tindakan, obat, nilai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Similarity matching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45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3A89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Inflated Bills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Nilai tagihan menyimpang dari kelompok kasus sejenis (kode INA-CBG / diagnosis)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Robust z-score terhadap median kelompok sejenis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Statistik + anomaly detection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14450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13A89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Upcoding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Kombinasi diagnosis, tindakan, dan nilai tidak wajar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Konsistensi koding, proporsi kode berat per faskes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Aturan koding + anomaly detection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8" id="8"/>
          <p:cNvSpPr/>
          <p:nvPr/>
        </p:nvSpPr>
        <p:spPr>
          <a:xfrm flipH="false" flipV="false" rot="0">
            <a:off x="15824478" y="2011680"/>
            <a:ext cx="1732002" cy="1610762"/>
          </a:xfrm>
          <a:custGeom>
            <a:avLst/>
            <a:gdLst/>
            <a:ahLst/>
            <a:cxnLst/>
            <a:rect r="r" b="b" t="t" l="l"/>
            <a:pathLst>
              <a:path h="1610762" w="1732002">
                <a:moveTo>
                  <a:pt x="0" y="0"/>
                </a:moveTo>
                <a:lnTo>
                  <a:pt x="1732002" y="0"/>
                </a:lnTo>
                <a:lnTo>
                  <a:pt x="1732002" y="1610762"/>
                </a:lnTo>
                <a:lnTo>
                  <a:pt x="0" y="16107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55592" y="4374336"/>
            <a:ext cx="1700888" cy="1700888"/>
          </a:xfrm>
          <a:custGeom>
            <a:avLst/>
            <a:gdLst/>
            <a:ahLst/>
            <a:cxnLst/>
            <a:rect r="r" b="b" t="t" l="l"/>
            <a:pathLst>
              <a:path h="1700888" w="1700888">
                <a:moveTo>
                  <a:pt x="0" y="0"/>
                </a:moveTo>
                <a:lnTo>
                  <a:pt x="1700888" y="0"/>
                </a:lnTo>
                <a:lnTo>
                  <a:pt x="1700888" y="1700888"/>
                </a:lnTo>
                <a:lnTo>
                  <a:pt x="0" y="1700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55592" y="6914299"/>
            <a:ext cx="1732002" cy="1437562"/>
          </a:xfrm>
          <a:custGeom>
            <a:avLst/>
            <a:gdLst/>
            <a:ahLst/>
            <a:cxnLst/>
            <a:rect r="r" b="b" t="t" l="l"/>
            <a:pathLst>
              <a:path h="1437562" w="1732002">
                <a:moveTo>
                  <a:pt x="0" y="0"/>
                </a:moveTo>
                <a:lnTo>
                  <a:pt x="1732002" y="0"/>
                </a:lnTo>
                <a:lnTo>
                  <a:pt x="1732002" y="1437562"/>
                </a:lnTo>
                <a:lnTo>
                  <a:pt x="0" y="14375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31520" y="8799830"/>
            <a:ext cx="1682496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5B6B7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Skor menandai ketidakwajaran untuk ditinjau; bukan bukti kecurangan. Dasar: pembayaran INA-CBG berbasis kelompok kasus dengan kode ICD-10 (diagnosis) dan ICD-9-CM (prosedur) (Permenkes 26/2021; tarif: Permenkes 3/2023).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8670" y="424815"/>
            <a:ext cx="907423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53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EMPAT MODUS &amp; INDIKATOR DETEKSI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503348" cy="10287000"/>
            <a:chOff x="0" y="0"/>
            <a:chExt cx="2467113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7113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671130">
                  <a:moveTo>
                    <a:pt x="2467113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671130" y="0"/>
                  </a:lnTo>
                  <a:lnTo>
                    <a:pt x="24671130" y="13716000"/>
                  </a:lnTo>
                  <a:close/>
                </a:path>
              </a:pathLst>
            </a:custGeom>
            <a:solidFill>
              <a:srgbClr val="EDECE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4875" y="1200150"/>
            <a:ext cx="16459200" cy="1005840"/>
            <a:chOff x="0" y="0"/>
            <a:chExt cx="2194560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Arsitektur Hibrida: Aturan, Anomaly Detection, Penjelasan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4875" y="2312132"/>
            <a:ext cx="16459200" cy="4332136"/>
            <a:chOff x="0" y="0"/>
            <a:chExt cx="21945600" cy="577618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096000" cy="975360"/>
              <a:chOff x="0" y="0"/>
              <a:chExt cx="6096000" cy="97536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09600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solidFill>
                <a:srgbClr val="13A89E"/>
              </a:solidFill>
            </p:spPr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0"/>
              <a:ext cx="6096000" cy="975360"/>
              <a:chOff x="0" y="0"/>
              <a:chExt cx="6096000" cy="97536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09600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1781" r="0" b="-71781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6096000" cy="10229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INPUT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975360"/>
              <a:ext cx="6096000" cy="4800821"/>
              <a:chOff x="0" y="0"/>
              <a:chExt cx="6096000" cy="480082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096000" cy="4800821"/>
              </a:xfrm>
              <a:custGeom>
                <a:avLst/>
                <a:gdLst/>
                <a:ahLst/>
                <a:cxnLst/>
                <a:rect r="r" b="b" t="t" l="l"/>
                <a:pathLst>
                  <a:path h="4800821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4800821"/>
                    </a:lnTo>
                    <a:lnTo>
                      <a:pt x="0" y="4800821"/>
                    </a:lnTo>
                    <a:close/>
                  </a:path>
                </a:pathLst>
              </a:custGeom>
              <a:solidFill>
                <a:srgbClr val="EEF4F8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243840" y="1132332"/>
              <a:ext cx="5431624" cy="2324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58469" indent="-229235" lvl="1">
                <a:lnSpc>
                  <a:spcPts val="2279"/>
                </a:lnSpc>
                <a:buFont typeface="Arial"/>
                <a:buChar char="•"/>
              </a:pPr>
              <a:r>
                <a:rPr lang="en-US" sz="1899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klaim simulasi: diagnosis, tindakan, obat/alkes, nilai, tanggal, lama rawat, ID anonim</a:t>
              </a:r>
            </a:p>
            <a:p>
              <a:pPr algn="just" marL="458469" indent="-229235" lvl="1">
                <a:lnSpc>
                  <a:spcPts val="2279"/>
                </a:lnSpc>
                <a:buFont typeface="Arial"/>
                <a:buChar char="•"/>
              </a:pPr>
              <a:r>
                <a:rPr lang="en-US" sz="1899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Referensi kode (ICD, INA-CBG)</a:t>
              </a:r>
            </a:p>
            <a:p>
              <a:pPr algn="just" marL="458469" indent="-229235" lvl="1">
                <a:lnSpc>
                  <a:spcPts val="2279"/>
                </a:lnSpc>
                <a:buFont typeface="Arial"/>
                <a:buChar char="•"/>
              </a:pPr>
              <a:r>
                <a:rPr lang="en-US" sz="1899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Stack: [tim isi sesuai yang benar-benar dipakai]</a:t>
              </a: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6949440" y="0"/>
              <a:ext cx="8046720" cy="975360"/>
              <a:chOff x="0" y="0"/>
              <a:chExt cx="8046720" cy="97536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04672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8046720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solidFill>
                <a:srgbClr val="13A89E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6949440" y="0"/>
              <a:ext cx="8046720" cy="975360"/>
              <a:chOff x="0" y="0"/>
              <a:chExt cx="8046720" cy="97536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04672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8046720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10751" r="0" b="-110751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8046720" cy="10229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PROSES &amp; MODEL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6949440" y="975360"/>
              <a:ext cx="8046720" cy="4800821"/>
              <a:chOff x="0" y="0"/>
              <a:chExt cx="8046720" cy="480082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046720" cy="4800821"/>
              </a:xfrm>
              <a:custGeom>
                <a:avLst/>
                <a:gdLst/>
                <a:ahLst/>
                <a:cxnLst/>
                <a:rect r="r" b="b" t="t" l="l"/>
                <a:pathLst>
                  <a:path h="4800821" w="8046720">
                    <a:moveTo>
                      <a:pt x="0" y="0"/>
                    </a:moveTo>
                    <a:lnTo>
                      <a:pt x="8046720" y="0"/>
                    </a:lnTo>
                    <a:lnTo>
                      <a:pt x="8046720" y="4800821"/>
                    </a:lnTo>
                    <a:lnTo>
                      <a:pt x="0" y="4800821"/>
                    </a:lnTo>
                    <a:close/>
                  </a:path>
                </a:pathLst>
              </a:custGeom>
              <a:solidFill>
                <a:srgbClr val="EEF4F8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7193280" y="1132332"/>
              <a:ext cx="7338170" cy="3086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58469" indent="-229235" lvl="1">
                <a:lnSpc>
                  <a:spcPts val="2279"/>
                </a:lnSpc>
                <a:buFont typeface="Arial"/>
                <a:buChar char="•"/>
              </a:pPr>
              <a:r>
                <a:rPr lang="en-US" sz="1899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Preprocessing + pseudonimisasi ID</a:t>
              </a:r>
            </a:p>
            <a:p>
              <a:pPr algn="just" marL="458469" indent="-229235" lvl="1">
                <a:lnSpc>
                  <a:spcPts val="2279"/>
                </a:lnSpc>
                <a:buFont typeface="Arial"/>
                <a:buChar char="•"/>
              </a:pPr>
              <a:r>
                <a:rPr lang="en-US" sz="1899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Fitur per modus</a:t>
              </a:r>
            </a:p>
            <a:p>
              <a:pPr algn="just" marL="458469" indent="-229235" lvl="1">
                <a:lnSpc>
                  <a:spcPts val="2279"/>
                </a:lnSpc>
                <a:buFont typeface="Arial"/>
                <a:buChar char="•"/>
              </a:pPr>
              <a:r>
                <a:rPr lang="en-US" sz="1899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Aturan: transparan untuk modus berdefinisi tegas (repeat billing)</a:t>
              </a:r>
            </a:p>
            <a:p>
              <a:pPr algn="just" marL="458469" indent="-229235" lvl="1">
                <a:lnSpc>
                  <a:spcPts val="2279"/>
                </a:lnSpc>
                <a:buFont typeface="Arial"/>
                <a:buChar char="•"/>
              </a:pPr>
              <a:r>
                <a:rPr lang="en-US" sz="1899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Similarity: untuk claim cloning</a:t>
              </a:r>
            </a:p>
            <a:p>
              <a:pPr algn="just" marL="458469" indent="-229235" lvl="1">
                <a:lnSpc>
                  <a:spcPts val="2279"/>
                </a:lnSpc>
                <a:buFont typeface="Arial"/>
                <a:buChar char="•"/>
              </a:pPr>
              <a:r>
                <a:rPr lang="en-US" sz="1899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Isolation Forest: tanpa label; sesuai karena label kecurangan nyata langka</a:t>
              </a:r>
            </a:p>
            <a:p>
              <a:pPr algn="just" marL="458469" indent="-229235" lvl="1">
                <a:lnSpc>
                  <a:spcPts val="2279"/>
                </a:lnSpc>
                <a:buFont typeface="Arial"/>
                <a:buChar char="•"/>
              </a:pPr>
              <a:r>
                <a:rPr lang="en-US" sz="1899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Skor berbobot + kontribusi per faktor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15849600" y="0"/>
              <a:ext cx="6096000" cy="975360"/>
              <a:chOff x="0" y="0"/>
              <a:chExt cx="6096000" cy="97536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09600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solidFill>
                <a:srgbClr val="13A89E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15849600" y="0"/>
              <a:ext cx="6096000" cy="975360"/>
              <a:chOff x="0" y="0"/>
              <a:chExt cx="6096000" cy="97536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09600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1781" r="0" b="-71781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6096000" cy="10229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639"/>
                  </a:lnSpc>
                </a:pPr>
                <a:r>
                  <a:rPr lang="en-US" sz="21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OUTPUT &amp; KEPUTUSAN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5849600" y="975360"/>
              <a:ext cx="6096000" cy="4800821"/>
              <a:chOff x="0" y="0"/>
              <a:chExt cx="6096000" cy="480082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6096000" cy="4800821"/>
              </a:xfrm>
              <a:custGeom>
                <a:avLst/>
                <a:gdLst/>
                <a:ahLst/>
                <a:cxnLst/>
                <a:rect r="r" b="b" t="t" l="l"/>
                <a:pathLst>
                  <a:path h="4800821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4800821"/>
                    </a:lnTo>
                    <a:lnTo>
                      <a:pt x="0" y="4800821"/>
                    </a:lnTo>
                    <a:close/>
                  </a:path>
                </a:pathLst>
              </a:custGeom>
              <a:solidFill>
                <a:srgbClr val="EEF4F8"/>
              </a:solid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16093440" y="1132332"/>
              <a:ext cx="5608320" cy="2324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458469" indent="-229235" lvl="1">
                <a:lnSpc>
                  <a:spcPts val="2279"/>
                </a:lnSpc>
                <a:buFont typeface="Arial"/>
                <a:buChar char="•"/>
              </a:pPr>
              <a:r>
                <a:rPr lang="en-US" sz="1899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Skor, kategori, alasan</a:t>
              </a:r>
            </a:p>
            <a:p>
              <a:pPr algn="just" marL="458469" indent="-229235" lvl="1">
                <a:lnSpc>
                  <a:spcPts val="2279"/>
                </a:lnSpc>
                <a:buFont typeface="Arial"/>
                <a:buChar char="•"/>
              </a:pPr>
              <a:r>
                <a:rPr lang="en-US" sz="1899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Daftar prioritas dan klaim pembanding</a:t>
              </a:r>
            </a:p>
            <a:p>
              <a:pPr algn="just" marL="458469" indent="-229235" lvl="1">
                <a:lnSpc>
                  <a:spcPts val="2279"/>
                </a:lnSpc>
                <a:buFont typeface="Arial"/>
                <a:buChar char="•"/>
              </a:pPr>
              <a:r>
                <a:rPr lang="en-US" sz="1899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</a:t>
              </a:r>
            </a:p>
            <a:p>
              <a:pPr algn="just" marL="458469" indent="-229235" lvl="1">
                <a:lnSpc>
                  <a:spcPts val="2279"/>
                </a:lnSpc>
                <a:buFont typeface="Arial"/>
                <a:buChar char="•"/>
              </a:pPr>
              <a:r>
                <a:rPr lang="en-US" sz="1899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Pengguna: verifikator dan unit pengendalian klaim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6217920" y="60960"/>
              <a:ext cx="731520" cy="853440"/>
              <a:chOff x="0" y="0"/>
              <a:chExt cx="731520" cy="85344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7315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731520">
                    <a:moveTo>
                      <a:pt x="0" y="213360"/>
                    </a:moveTo>
                    <a:lnTo>
                      <a:pt x="365760" y="213360"/>
                    </a:lnTo>
                    <a:lnTo>
                      <a:pt x="365760" y="0"/>
                    </a:lnTo>
                    <a:lnTo>
                      <a:pt x="731520" y="426720"/>
                    </a:lnTo>
                    <a:lnTo>
                      <a:pt x="365760" y="853440"/>
                    </a:lnTo>
                    <a:lnTo>
                      <a:pt x="36576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13A89E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15123160" y="60960"/>
              <a:ext cx="731520" cy="853440"/>
              <a:chOff x="0" y="0"/>
              <a:chExt cx="731520" cy="85344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731520" cy="853440"/>
              </a:xfrm>
              <a:custGeom>
                <a:avLst/>
                <a:gdLst/>
                <a:ahLst/>
                <a:cxnLst/>
                <a:rect r="r" b="b" t="t" l="l"/>
                <a:pathLst>
                  <a:path h="853440" w="731520">
                    <a:moveTo>
                      <a:pt x="0" y="213360"/>
                    </a:moveTo>
                    <a:lnTo>
                      <a:pt x="365760" y="213360"/>
                    </a:lnTo>
                    <a:lnTo>
                      <a:pt x="365760" y="0"/>
                    </a:lnTo>
                    <a:lnTo>
                      <a:pt x="731520" y="426720"/>
                    </a:lnTo>
                    <a:lnTo>
                      <a:pt x="365760" y="853440"/>
                    </a:lnTo>
                    <a:lnTo>
                      <a:pt x="365760" y="640080"/>
                    </a:lnTo>
                    <a:lnTo>
                      <a:pt x="0" y="640080"/>
                    </a:lnTo>
                    <a:close/>
                  </a:path>
                </a:pathLst>
              </a:custGeom>
              <a:solidFill>
                <a:srgbClr val="13A89E"/>
              </a:solidFill>
            </p:spPr>
          </p:sp>
        </p:grpSp>
      </p:grpSp>
      <p:grpSp>
        <p:nvGrpSpPr>
          <p:cNvPr name="Group 36" id="36"/>
          <p:cNvGrpSpPr/>
          <p:nvPr/>
        </p:nvGrpSpPr>
        <p:grpSpPr>
          <a:xfrm rot="0">
            <a:off x="12792075" y="8026208"/>
            <a:ext cx="4572000" cy="1089199"/>
            <a:chOff x="0" y="0"/>
            <a:chExt cx="6096000" cy="145226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96000" cy="1452265"/>
            </a:xfrm>
            <a:custGeom>
              <a:avLst/>
              <a:gdLst/>
              <a:ahLst/>
              <a:cxnLst/>
              <a:rect r="r" b="b" t="t" l="l"/>
              <a:pathLst>
                <a:path h="1452265" w="6096000">
                  <a:moveTo>
                    <a:pt x="0" y="207466"/>
                  </a:moveTo>
                  <a:cubicBezTo>
                    <a:pt x="0" y="92928"/>
                    <a:pt x="18203" y="0"/>
                    <a:pt x="40640" y="0"/>
                  </a:cubicBezTo>
                  <a:lnTo>
                    <a:pt x="6055360" y="0"/>
                  </a:lnTo>
                  <a:cubicBezTo>
                    <a:pt x="6077796" y="0"/>
                    <a:pt x="6096000" y="92928"/>
                    <a:pt x="6096000" y="207466"/>
                  </a:cubicBezTo>
                  <a:lnTo>
                    <a:pt x="6096000" y="1244799"/>
                  </a:lnTo>
                  <a:cubicBezTo>
                    <a:pt x="6096000" y="1359337"/>
                    <a:pt x="6077796" y="1452265"/>
                    <a:pt x="6055360" y="1452265"/>
                  </a:cubicBezTo>
                  <a:lnTo>
                    <a:pt x="40640" y="1452265"/>
                  </a:lnTo>
                  <a:cubicBezTo>
                    <a:pt x="18203" y="1452265"/>
                    <a:pt x="0" y="1359337"/>
                    <a:pt x="0" y="1244799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6096000" cy="1490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KEAMANAN &amp; PRIVASI: 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sintetis/anonim, pseudonimisasi ID, akses berbasis peran, audit log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04875" y="7210573"/>
            <a:ext cx="11247120" cy="1904834"/>
            <a:chOff x="0" y="0"/>
            <a:chExt cx="14996160" cy="2539779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14996160" cy="2539779"/>
              <a:chOff x="0" y="0"/>
              <a:chExt cx="14996160" cy="2539779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4996161" cy="2539779"/>
              </a:xfrm>
              <a:custGeom>
                <a:avLst/>
                <a:gdLst/>
                <a:ahLst/>
                <a:cxnLst/>
                <a:rect r="r" b="b" t="t" l="l"/>
                <a:pathLst>
                  <a:path h="2539779" w="14996161">
                    <a:moveTo>
                      <a:pt x="0" y="0"/>
                    </a:moveTo>
                    <a:lnTo>
                      <a:pt x="14996161" y="0"/>
                    </a:lnTo>
                    <a:lnTo>
                      <a:pt x="14996161" y="2539779"/>
                    </a:lnTo>
                    <a:lnTo>
                      <a:pt x="0" y="253977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8899AA"/>
                </a:solidFill>
                <a:prstDash val="solid"/>
                <a:miter/>
              </a:ln>
            </p:spPr>
          </p:sp>
        </p:grpSp>
        <p:sp>
          <p:nvSpPr>
            <p:cNvPr name="TextBox 42" id="42"/>
            <p:cNvSpPr txBox="true"/>
            <p:nvPr/>
          </p:nvSpPr>
          <p:spPr>
            <a:xfrm rot="0">
              <a:off x="561892" y="455985"/>
              <a:ext cx="13484529" cy="1562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13A8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Asumsi &amp; keterbatasan:  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(1) Data simulasi mewakili pola, bukan seluruh kompleksitas klinis nyata. 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(2) Bobot dan ambang batas perlu dikalibrasi ulang dengan data nyata yang diotorisasi. </a:t>
              </a:r>
            </a:p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(3) Anomali statistik tidak sama dengan pelanggaran; konteks klinis tidak seluruhnya tertangkap.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04875" y="647700"/>
            <a:ext cx="907423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53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ARSITEKTUR &amp; PENDEKATAN TEKNIS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DECE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50689"/>
            <a:ext cx="16459200" cy="1005840"/>
            <a:chOff x="0" y="0"/>
            <a:chExt cx="2194560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Simulasi: Realistis, Terkontrol, Sesuai Ketentuan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908810"/>
            <a:ext cx="16459200" cy="640080"/>
            <a:chOff x="0" y="0"/>
            <a:chExt cx="21945600" cy="8534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799296" y="0"/>
                  </a:lnTo>
                  <a:cubicBezTo>
                    <a:pt x="21880068" y="0"/>
                    <a:pt x="21945600" y="65532"/>
                    <a:pt x="21945600" y="146304"/>
                  </a:cubicBezTo>
                  <a:lnTo>
                    <a:pt x="21945600" y="707136"/>
                  </a:lnTo>
                  <a:cubicBezTo>
                    <a:pt x="21945600" y="787908"/>
                    <a:pt x="21880068" y="853440"/>
                    <a:pt x="21799296" y="853440"/>
                  </a:cubicBezTo>
                  <a:lnTo>
                    <a:pt x="146304" y="853440"/>
                  </a:lnTo>
                  <a:cubicBezTo>
                    <a:pt x="65532" y="853440"/>
                    <a:pt x="0" y="787908"/>
                    <a:pt x="0" y="707136"/>
                  </a:cubicBezTo>
                  <a:close/>
                </a:path>
              </a:pathLst>
            </a:custGeom>
            <a:solidFill>
              <a:srgbClr val="2E9E5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100% DATA SINTETIS  ·  Tidak memakai data peserta JKN riil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89635" y="2967228"/>
            <a:ext cx="5486400" cy="5888736"/>
            <a:chOff x="0" y="0"/>
            <a:chExt cx="7315200" cy="7851648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7315200" cy="1414272"/>
              <a:chOff x="0" y="0"/>
              <a:chExt cx="7315200" cy="141427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31520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solidFill>
                <a:srgbClr val="EEF4F8"/>
              </a:solidFill>
            </p:spPr>
          </p:sp>
        </p:grpSp>
        <p:grpSp>
          <p:nvGrpSpPr>
            <p:cNvPr name="Group 13" id="13"/>
            <p:cNvGrpSpPr/>
            <p:nvPr/>
          </p:nvGrpSpPr>
          <p:grpSpPr>
            <a:xfrm rot="0">
              <a:off x="195072" y="292608"/>
              <a:ext cx="829056" cy="829056"/>
              <a:chOff x="0" y="0"/>
              <a:chExt cx="829056" cy="82905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29056" cy="829056"/>
              </a:xfrm>
              <a:custGeom>
                <a:avLst/>
                <a:gdLst/>
                <a:ahLst/>
                <a:cxnLst/>
                <a:rect r="r" b="b" t="t" l="l"/>
                <a:pathLst>
                  <a:path h="829056" w="829056">
                    <a:moveTo>
                      <a:pt x="0" y="414528"/>
                    </a:moveTo>
                    <a:cubicBezTo>
                      <a:pt x="0" y="185547"/>
                      <a:pt x="185547" y="0"/>
                      <a:pt x="414528" y="0"/>
                    </a:cubicBezTo>
                    <a:cubicBezTo>
                      <a:pt x="643509" y="0"/>
                      <a:pt x="829056" y="185547"/>
                      <a:pt x="829056" y="414528"/>
                    </a:cubicBezTo>
                    <a:cubicBezTo>
                      <a:pt x="829056" y="643509"/>
                      <a:pt x="643509" y="829056"/>
                      <a:pt x="414528" y="829056"/>
                    </a:cubicBezTo>
                    <a:cubicBezTo>
                      <a:pt x="185547" y="829056"/>
                      <a:pt x="0" y="643509"/>
                      <a:pt x="0" y="414528"/>
                    </a:cubicBezTo>
                    <a:close/>
                  </a:path>
                </a:pathLst>
              </a:custGeom>
              <a:solidFill>
                <a:srgbClr val="13A89E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829056" cy="8671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341120" y="0"/>
              <a:ext cx="5852160" cy="1414272"/>
              <a:chOff x="0" y="0"/>
              <a:chExt cx="5852160" cy="141427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85216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0627" r="0" b="-30627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5852160" cy="14523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79"/>
                  </a:lnSpc>
                </a:pPr>
                <a:r>
                  <a:rPr lang="en-US" sz="1899">
                    <a:solidFill>
                      <a:srgbClr val="0B254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Tentukan distribusi dasar (diagnosis, tindakan, biaya)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1609344"/>
              <a:ext cx="7315200" cy="1414272"/>
              <a:chOff x="0" y="0"/>
              <a:chExt cx="7315200" cy="141427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31520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solidFill>
                <a:srgbClr val="EEF4F8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195072" y="1901952"/>
              <a:ext cx="829056" cy="829056"/>
              <a:chOff x="0" y="0"/>
              <a:chExt cx="829056" cy="82905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29056" cy="829056"/>
              </a:xfrm>
              <a:custGeom>
                <a:avLst/>
                <a:gdLst/>
                <a:ahLst/>
                <a:cxnLst/>
                <a:rect r="r" b="b" t="t" l="l"/>
                <a:pathLst>
                  <a:path h="829056" w="829056">
                    <a:moveTo>
                      <a:pt x="0" y="414528"/>
                    </a:moveTo>
                    <a:cubicBezTo>
                      <a:pt x="0" y="185547"/>
                      <a:pt x="185547" y="0"/>
                      <a:pt x="414528" y="0"/>
                    </a:cubicBezTo>
                    <a:cubicBezTo>
                      <a:pt x="643509" y="0"/>
                      <a:pt x="829056" y="185547"/>
                      <a:pt x="829056" y="414528"/>
                    </a:cubicBezTo>
                    <a:cubicBezTo>
                      <a:pt x="829056" y="643509"/>
                      <a:pt x="643509" y="829056"/>
                      <a:pt x="414528" y="829056"/>
                    </a:cubicBezTo>
                    <a:cubicBezTo>
                      <a:pt x="185547" y="829056"/>
                      <a:pt x="0" y="643509"/>
                      <a:pt x="0" y="414528"/>
                    </a:cubicBezTo>
                    <a:close/>
                  </a:path>
                </a:pathLst>
              </a:custGeom>
              <a:solidFill>
                <a:srgbClr val="13A89E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829056" cy="8671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341120" y="1609344"/>
              <a:ext cx="5852160" cy="1414272"/>
              <a:chOff x="0" y="0"/>
              <a:chExt cx="5852160" cy="1414272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585216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0627" r="0" b="-30627"/>
                </a:stretch>
              </a:blip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5852160" cy="14523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79"/>
                  </a:lnSpc>
                </a:pPr>
                <a:r>
                  <a:rPr lang="en-US" sz="1899">
                    <a:solidFill>
                      <a:srgbClr val="0B254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Bangkitkan klaim normal dengan variasi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0" y="3218688"/>
              <a:ext cx="7315200" cy="1414272"/>
              <a:chOff x="0" y="0"/>
              <a:chExt cx="7315200" cy="1414272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31520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solidFill>
                <a:srgbClr val="EEF4F8"/>
              </a:solidFill>
            </p:spPr>
          </p:sp>
        </p:grpSp>
        <p:grpSp>
          <p:nvGrpSpPr>
            <p:cNvPr name="Group 29" id="29"/>
            <p:cNvGrpSpPr/>
            <p:nvPr/>
          </p:nvGrpSpPr>
          <p:grpSpPr>
            <a:xfrm rot="0">
              <a:off x="195072" y="3511296"/>
              <a:ext cx="829056" cy="829056"/>
              <a:chOff x="0" y="0"/>
              <a:chExt cx="829056" cy="829056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29056" cy="829056"/>
              </a:xfrm>
              <a:custGeom>
                <a:avLst/>
                <a:gdLst/>
                <a:ahLst/>
                <a:cxnLst/>
                <a:rect r="r" b="b" t="t" l="l"/>
                <a:pathLst>
                  <a:path h="829056" w="829056">
                    <a:moveTo>
                      <a:pt x="0" y="414528"/>
                    </a:moveTo>
                    <a:cubicBezTo>
                      <a:pt x="0" y="185547"/>
                      <a:pt x="185547" y="0"/>
                      <a:pt x="414528" y="0"/>
                    </a:cubicBezTo>
                    <a:cubicBezTo>
                      <a:pt x="643509" y="0"/>
                      <a:pt x="829056" y="185547"/>
                      <a:pt x="829056" y="414528"/>
                    </a:cubicBezTo>
                    <a:cubicBezTo>
                      <a:pt x="829056" y="643509"/>
                      <a:pt x="643509" y="829056"/>
                      <a:pt x="414528" y="829056"/>
                    </a:cubicBezTo>
                    <a:cubicBezTo>
                      <a:pt x="185547" y="829056"/>
                      <a:pt x="0" y="643509"/>
                      <a:pt x="0" y="414528"/>
                    </a:cubicBezTo>
                    <a:close/>
                  </a:path>
                </a:pathLst>
              </a:custGeom>
              <a:solidFill>
                <a:srgbClr val="13A89E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829056" cy="8671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3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341120" y="3218688"/>
              <a:ext cx="5852160" cy="1414272"/>
              <a:chOff x="0" y="0"/>
              <a:chExt cx="5852160" cy="141427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585216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0627" r="0" b="-30627"/>
                </a:stretch>
              </a:blip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5852160" cy="14523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79"/>
                  </a:lnSpc>
                </a:pPr>
                <a:r>
                  <a:rPr lang="en-US" sz="1899">
                    <a:solidFill>
                      <a:srgbClr val="0B254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Suntikkan anomali per modus + label ground truth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4828032"/>
              <a:ext cx="7315200" cy="1414272"/>
              <a:chOff x="0" y="0"/>
              <a:chExt cx="7315200" cy="1414272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731520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solidFill>
                <a:srgbClr val="EEF4F8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195072" y="5120640"/>
              <a:ext cx="829056" cy="829056"/>
              <a:chOff x="0" y="0"/>
              <a:chExt cx="829056" cy="829056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29056" cy="829056"/>
              </a:xfrm>
              <a:custGeom>
                <a:avLst/>
                <a:gdLst/>
                <a:ahLst/>
                <a:cxnLst/>
                <a:rect r="r" b="b" t="t" l="l"/>
                <a:pathLst>
                  <a:path h="829056" w="829056">
                    <a:moveTo>
                      <a:pt x="0" y="414528"/>
                    </a:moveTo>
                    <a:cubicBezTo>
                      <a:pt x="0" y="185547"/>
                      <a:pt x="185547" y="0"/>
                      <a:pt x="414528" y="0"/>
                    </a:cubicBezTo>
                    <a:cubicBezTo>
                      <a:pt x="643509" y="0"/>
                      <a:pt x="829056" y="185547"/>
                      <a:pt x="829056" y="414528"/>
                    </a:cubicBezTo>
                    <a:cubicBezTo>
                      <a:pt x="829056" y="643509"/>
                      <a:pt x="643509" y="829056"/>
                      <a:pt x="414528" y="829056"/>
                    </a:cubicBezTo>
                    <a:cubicBezTo>
                      <a:pt x="185547" y="829056"/>
                      <a:pt x="0" y="643509"/>
                      <a:pt x="0" y="414528"/>
                    </a:cubicBezTo>
                    <a:close/>
                  </a:path>
                </a:pathLst>
              </a:custGeom>
              <a:solidFill>
                <a:srgbClr val="13A89E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829056" cy="8671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</a:t>
                </a: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341120" y="4828032"/>
              <a:ext cx="5852160" cy="1414272"/>
              <a:chOff x="0" y="0"/>
              <a:chExt cx="5852160" cy="141427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585216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0627" r="0" b="-30627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5852160" cy="14523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79"/>
                  </a:lnSpc>
                </a:pPr>
                <a:r>
                  <a:rPr lang="en-US" sz="1899">
                    <a:solidFill>
                      <a:srgbClr val="0B254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Tambahkan noise dan klaim "wajar tapi mirip"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0" y="6437376"/>
              <a:ext cx="7315200" cy="1414272"/>
              <a:chOff x="0" y="0"/>
              <a:chExt cx="7315200" cy="1414272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731520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7315200">
                    <a:moveTo>
                      <a:pt x="0" y="0"/>
                    </a:moveTo>
                    <a:lnTo>
                      <a:pt x="7315200" y="0"/>
                    </a:lnTo>
                    <a:lnTo>
                      <a:pt x="731520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solidFill>
                <a:srgbClr val="EEF4F8"/>
              </a:solidFill>
            </p:spPr>
          </p:sp>
        </p:grpSp>
        <p:grpSp>
          <p:nvGrpSpPr>
            <p:cNvPr name="Group 45" id="45"/>
            <p:cNvGrpSpPr/>
            <p:nvPr/>
          </p:nvGrpSpPr>
          <p:grpSpPr>
            <a:xfrm rot="0">
              <a:off x="195072" y="6729984"/>
              <a:ext cx="829056" cy="829056"/>
              <a:chOff x="0" y="0"/>
              <a:chExt cx="829056" cy="829056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29056" cy="829056"/>
              </a:xfrm>
              <a:custGeom>
                <a:avLst/>
                <a:gdLst/>
                <a:ahLst/>
                <a:cxnLst/>
                <a:rect r="r" b="b" t="t" l="l"/>
                <a:pathLst>
                  <a:path h="829056" w="829056">
                    <a:moveTo>
                      <a:pt x="0" y="414528"/>
                    </a:moveTo>
                    <a:cubicBezTo>
                      <a:pt x="0" y="185547"/>
                      <a:pt x="185547" y="0"/>
                      <a:pt x="414528" y="0"/>
                    </a:cubicBezTo>
                    <a:cubicBezTo>
                      <a:pt x="643509" y="0"/>
                      <a:pt x="829056" y="185547"/>
                      <a:pt x="829056" y="414528"/>
                    </a:cubicBezTo>
                    <a:cubicBezTo>
                      <a:pt x="829056" y="643509"/>
                      <a:pt x="643509" y="829056"/>
                      <a:pt x="414528" y="829056"/>
                    </a:cubicBezTo>
                    <a:cubicBezTo>
                      <a:pt x="185547" y="829056"/>
                      <a:pt x="0" y="643509"/>
                      <a:pt x="0" y="414528"/>
                    </a:cubicBezTo>
                    <a:close/>
                  </a:path>
                </a:pathLst>
              </a:custGeom>
              <a:solidFill>
                <a:srgbClr val="13A89E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829056" cy="8671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5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1341120" y="6437376"/>
              <a:ext cx="5852160" cy="1414272"/>
              <a:chOff x="0" y="0"/>
              <a:chExt cx="5852160" cy="1414272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5852160" cy="1414272"/>
              </a:xfrm>
              <a:custGeom>
                <a:avLst/>
                <a:gdLst/>
                <a:ahLst/>
                <a:cxnLst/>
                <a:rect r="r" b="b" t="t" l="l"/>
                <a:pathLst>
                  <a:path h="1414272" w="585216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0627" r="0" b="-30627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38100"/>
                <a:ext cx="5852160" cy="145237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79"/>
                  </a:lnSpc>
                </a:pPr>
                <a:r>
                  <a:rPr lang="en-US" sz="1899">
                    <a:solidFill>
                      <a:srgbClr val="0B254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Pisahkan data latih dan uji</a:t>
                </a:r>
              </a:p>
            </p:txBody>
          </p:sp>
        </p:grpSp>
      </p:grpSp>
      <p:graphicFrame>
        <p:nvGraphicFramePr>
          <p:cNvPr name="Table 51" id="51"/>
          <p:cNvGraphicFramePr>
            <a:graphicFrameLocks noGrp="true"/>
          </p:cNvGraphicFramePr>
          <p:nvPr/>
        </p:nvGraphicFramePr>
        <p:xfrm>
          <a:off x="6766560" y="2967228"/>
          <a:ext cx="6375400" cy="3657600"/>
        </p:xfrm>
        <a:graphic>
          <a:graphicData uri="http://schemas.openxmlformats.org/drawingml/2006/table">
            <a:tbl>
              <a:tblPr/>
              <a:tblGrid>
                <a:gridCol w="1549023"/>
                <a:gridCol w="1817985"/>
                <a:gridCol w="1549023"/>
                <a:gridCol w="1459369"/>
              </a:tblGrid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Diagnosis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Nilai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Label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C-00231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Pneumonia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Rp 4,1 jt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Normal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C-00232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Pneumonia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Rp 4,1 jt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Cloning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C-00417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Apendisitis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Rp 14,8 jt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Inflated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C-00502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Diare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Rp 3,3 jt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Repeat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C-00618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Katarak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Rp 9,7 jt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Upcoding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3"/>
                    </a:solidFill>
                  </a:tcPr>
                </a:tc>
              </a:tr>
            </a:tbl>
          </a:graphicData>
        </a:graphic>
      </p:graphicFrame>
      <p:sp>
        <p:nvSpPr>
          <p:cNvPr name="TextBox 52" id="52"/>
          <p:cNvSpPr txBox="true"/>
          <p:nvPr/>
        </p:nvSpPr>
        <p:spPr>
          <a:xfrm rot="0">
            <a:off x="6766560" y="6772085"/>
            <a:ext cx="64008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i="true">
                <a:solidFill>
                  <a:srgbClr val="5B6B7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Contoh baris sintetis (nilai ilustratif, bukan tarif resmi)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6766560" y="7176516"/>
            <a:ext cx="6400800" cy="2689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1" indent="-205105" lvl="1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Ukuran: [N] klaim, anomali [x]%, [n] faskes (tim isi)</a:t>
            </a:r>
          </a:p>
          <a:p>
            <a:pPr algn="l" marL="410211" indent="-205105" lvl="1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Atribut: Claim ID, Patient ID anonim, Facility ID, Doctor ID, diagnosis (ICD-10), tindakan (ICD-9-CM), obat/alkes, tanggal, nilai, lama rawat, frekuensi</a:t>
            </a:r>
          </a:p>
          <a:p>
            <a:pPr algn="l" marL="410211" indent="-205105" lvl="1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Acuan nilai: tarif INA-CBG publik (Permenkes 3/2023)</a:t>
            </a:r>
          </a:p>
          <a:p>
            <a:pPr algn="l" marL="410211" indent="-205105" lvl="1">
              <a:lnSpc>
                <a:spcPts val="2040"/>
              </a:lnSpc>
              <a:buFont typeface="Arial"/>
              <a:buChar char="•"/>
            </a:pPr>
            <a:r>
              <a:rPr lang="en-US" sz="17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Label hanya untuk evaluasi, bukan fitur model</a:t>
            </a:r>
          </a:p>
        </p:txBody>
      </p:sp>
      <p:pic>
        <p:nvPicPr>
          <p:cNvPr name="Picture 54" id="5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050592" y="2740815"/>
            <a:ext cx="5037946" cy="6087518"/>
          </a:xfrm>
          <a:prstGeom prst="rect">
            <a:avLst/>
          </a:prstGeom>
        </p:spPr>
      </p:pic>
      <p:sp>
        <p:nvSpPr>
          <p:cNvPr name="TextBox 55" id="55"/>
          <p:cNvSpPr txBox="true"/>
          <p:nvPr/>
        </p:nvSpPr>
        <p:spPr>
          <a:xfrm rot="0">
            <a:off x="13879830" y="8502396"/>
            <a:ext cx="370141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i="true">
                <a:solidFill>
                  <a:srgbClr val="5B6B7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Ilustrasi komposisi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42975" y="531589"/>
            <a:ext cx="907423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53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&amp; SIMULASI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DECE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3925" y="1005840"/>
            <a:ext cx="16459200" cy="1005840"/>
            <a:chOff x="0" y="0"/>
            <a:chExt cx="2194560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Satu Skor, Lima Indikator, Setiap Poin Bisa Ditelusuri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011680"/>
            <a:ext cx="5852160" cy="1097280"/>
            <a:chOff x="0" y="0"/>
            <a:chExt cx="7802880" cy="14630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02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802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656576" y="0"/>
                  </a:lnTo>
                  <a:cubicBezTo>
                    <a:pt x="7737348" y="0"/>
                    <a:pt x="7802880" y="65532"/>
                    <a:pt x="7802880" y="146304"/>
                  </a:cubicBezTo>
                  <a:lnTo>
                    <a:pt x="7802880" y="1316736"/>
                  </a:lnTo>
                  <a:cubicBezTo>
                    <a:pt x="7802880" y="1397508"/>
                    <a:pt x="7737348" y="1463040"/>
                    <a:pt x="765657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0B254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7802880" cy="1529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Score = 100 × Σ (wᵢ × sᵢ)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" y="3181350"/>
            <a:ext cx="585216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5B6B7B"/>
                </a:solidFill>
                <a:latin typeface="Calibri (MS)"/>
                <a:ea typeface="Calibri (MS)"/>
                <a:cs typeface="Calibri (MS)"/>
                <a:sym typeface="Calibri (MS)"/>
              </a:rPr>
              <a:t>sᵢ ∈ [0,1] skor indikator;  Σwᵢ =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3802380"/>
            <a:ext cx="585216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3A89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Bobot awal (contoh, belum final)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14400" y="4352544"/>
            <a:ext cx="5852160" cy="548640"/>
            <a:chOff x="0" y="0"/>
            <a:chExt cx="780288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802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4352544"/>
            <a:ext cx="4023360" cy="548640"/>
            <a:chOff x="0" y="0"/>
            <a:chExt cx="536448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364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Repeat Billing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20640" y="4352544"/>
            <a:ext cx="1463040" cy="548640"/>
            <a:chOff x="0" y="0"/>
            <a:chExt cx="195072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5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950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9"/>
                </a:lnSpc>
              </a:pPr>
              <a:r>
                <a:rPr lang="en-US" sz="2199" b="true">
                  <a:solidFill>
                    <a:srgbClr val="13A8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0,25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5010912"/>
            <a:ext cx="5852160" cy="548640"/>
            <a:chOff x="0" y="0"/>
            <a:chExt cx="780288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802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97280" y="5010912"/>
            <a:ext cx="4023360" cy="548640"/>
            <a:chOff x="0" y="0"/>
            <a:chExt cx="536448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364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Claim Similarity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120640" y="5010912"/>
            <a:ext cx="1463040" cy="548640"/>
            <a:chOff x="0" y="0"/>
            <a:chExt cx="195072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5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950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9"/>
                </a:lnSpc>
              </a:pPr>
              <a:r>
                <a:rPr lang="en-US" sz="2199" b="true">
                  <a:solidFill>
                    <a:srgbClr val="13A8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0,25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" y="5669280"/>
            <a:ext cx="5852160" cy="548640"/>
            <a:chOff x="0" y="0"/>
            <a:chExt cx="780288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02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97280" y="5669280"/>
            <a:ext cx="4023360" cy="548640"/>
            <a:chOff x="0" y="0"/>
            <a:chExt cx="536448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364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Price Deviation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120640" y="5669280"/>
            <a:ext cx="1463040" cy="548640"/>
            <a:chOff x="0" y="0"/>
            <a:chExt cx="195072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5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950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9"/>
                </a:lnSpc>
              </a:pPr>
              <a:r>
                <a:rPr lang="en-US" sz="2199" b="true">
                  <a:solidFill>
                    <a:srgbClr val="13A8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0,20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" y="6327648"/>
            <a:ext cx="5852160" cy="548640"/>
            <a:chOff x="0" y="0"/>
            <a:chExt cx="780288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802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97280" y="6327648"/>
            <a:ext cx="4023360" cy="548640"/>
            <a:chOff x="0" y="0"/>
            <a:chExt cx="536448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364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Coding Anomaly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120640" y="6327648"/>
            <a:ext cx="1463040" cy="548640"/>
            <a:chOff x="0" y="0"/>
            <a:chExt cx="195072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5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950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9"/>
                </a:lnSpc>
              </a:pPr>
              <a:r>
                <a:rPr lang="en-US" sz="2199" b="true">
                  <a:solidFill>
                    <a:srgbClr val="13A8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0,20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14400" y="6986016"/>
            <a:ext cx="5852160" cy="548640"/>
            <a:chOff x="0" y="0"/>
            <a:chExt cx="780288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802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97280" y="6986016"/>
            <a:ext cx="4023360" cy="548640"/>
            <a:chOff x="0" y="0"/>
            <a:chExt cx="536448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64480" cy="731520"/>
            </a:xfrm>
            <a:custGeom>
              <a:avLst/>
              <a:gdLst/>
              <a:ahLst/>
              <a:cxnLst/>
              <a:rect r="r" b="b" t="t" l="l"/>
              <a:pathLst>
                <a:path h="7315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3644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Frequency Anomaly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120640" y="6986016"/>
            <a:ext cx="1463040" cy="548640"/>
            <a:chOff x="0" y="0"/>
            <a:chExt cx="195072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95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1950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9"/>
                </a:lnSpc>
              </a:pPr>
              <a:r>
                <a:rPr lang="en-US" sz="2199" b="true">
                  <a:solidFill>
                    <a:srgbClr val="13A8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0,10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7498080" y="2156079"/>
            <a:ext cx="731520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Klaim CLM-00231: 91 (Critical)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7498080" y="2834640"/>
            <a:ext cx="2962656" cy="694944"/>
            <a:chOff x="0" y="0"/>
            <a:chExt cx="3950208" cy="9265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50208" cy="926592"/>
            </a:xfrm>
            <a:custGeom>
              <a:avLst/>
              <a:gdLst/>
              <a:ahLst/>
              <a:cxnLst/>
              <a:rect r="r" b="b" t="t" l="l"/>
              <a:pathLst>
                <a:path h="926592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2E9E5B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3950208" cy="964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0-30 Low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460736" y="2834640"/>
            <a:ext cx="2962656" cy="694944"/>
            <a:chOff x="0" y="0"/>
            <a:chExt cx="3950208" cy="92659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50208" cy="926592"/>
            </a:xfrm>
            <a:custGeom>
              <a:avLst/>
              <a:gdLst/>
              <a:ahLst/>
              <a:cxnLst/>
              <a:rect r="r" b="b" t="t" l="l"/>
              <a:pathLst>
                <a:path h="926592" w="3950208">
                  <a:moveTo>
                    <a:pt x="0" y="0"/>
                  </a:moveTo>
                  <a:lnTo>
                    <a:pt x="3950208" y="0"/>
                  </a:lnTo>
                  <a:lnTo>
                    <a:pt x="395020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2C230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950208" cy="964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31-60 Medium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423392" y="2834640"/>
            <a:ext cx="1975104" cy="694944"/>
            <a:chOff x="0" y="0"/>
            <a:chExt cx="2633472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633472" cy="926592"/>
            </a:xfrm>
            <a:custGeom>
              <a:avLst/>
              <a:gdLst/>
              <a:ahLst/>
              <a:cxnLst/>
              <a:rect r="r" b="b" t="t" l="l"/>
              <a:pathLst>
                <a:path h="92659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28C28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2633472" cy="964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61-80 High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398496" y="2834640"/>
            <a:ext cx="1975104" cy="694944"/>
            <a:chOff x="0" y="0"/>
            <a:chExt cx="2633472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633472" cy="926592"/>
            </a:xfrm>
            <a:custGeom>
              <a:avLst/>
              <a:gdLst/>
              <a:ahLst/>
              <a:cxnLst/>
              <a:rect r="r" b="b" t="t" l="l"/>
              <a:pathLst>
                <a:path h="926592" w="2633472">
                  <a:moveTo>
                    <a:pt x="0" y="0"/>
                  </a:moveTo>
                  <a:lnTo>
                    <a:pt x="2633472" y="0"/>
                  </a:lnTo>
                  <a:lnTo>
                    <a:pt x="263347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D64545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2633472" cy="9646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81-100 Critical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6239744" y="2158365"/>
            <a:ext cx="475488" cy="457200"/>
            <a:chOff x="0" y="0"/>
            <a:chExt cx="633984" cy="609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33984" cy="609600"/>
            </a:xfrm>
            <a:custGeom>
              <a:avLst/>
              <a:gdLst/>
              <a:ahLst/>
              <a:cxnLst/>
              <a:rect r="r" b="b" t="t" l="l"/>
              <a:pathLst>
                <a:path h="609600" w="633984">
                  <a:moveTo>
                    <a:pt x="0" y="304800"/>
                  </a:moveTo>
                  <a:lnTo>
                    <a:pt x="158496" y="304800"/>
                  </a:lnTo>
                  <a:lnTo>
                    <a:pt x="158496" y="0"/>
                  </a:lnTo>
                  <a:lnTo>
                    <a:pt x="475488" y="0"/>
                  </a:lnTo>
                  <a:lnTo>
                    <a:pt x="475488" y="304800"/>
                  </a:lnTo>
                  <a:lnTo>
                    <a:pt x="633984" y="304800"/>
                  </a:lnTo>
                  <a:lnTo>
                    <a:pt x="316992" y="609600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7498080" y="3659505"/>
            <a:ext cx="987552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B6B7B"/>
                </a:solidFill>
                <a:latin typeface="Calibri (MS)"/>
                <a:ea typeface="Calibri (MS)"/>
                <a:cs typeface="Calibri (MS)"/>
                <a:sym typeface="Calibri (MS)"/>
              </a:rPr>
              <a:t>Tindak lanjut: Low pantau · Medium sampling · High tinjau · Critical tinjau prioritas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498080" y="4158615"/>
            <a:ext cx="9875520" cy="449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Kontribusi tiap indikator pada klaim contoh (poin)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7498080" y="4791456"/>
            <a:ext cx="3108960" cy="475488"/>
            <a:chOff x="0" y="0"/>
            <a:chExt cx="4145280" cy="63398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145280" cy="633984"/>
            </a:xfrm>
            <a:custGeom>
              <a:avLst/>
              <a:gdLst/>
              <a:ahLst/>
              <a:cxnLst/>
              <a:rect r="r" b="b" t="t" l="l"/>
              <a:pathLst>
                <a:path h="63398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145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Repeat Billing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698480" y="4846320"/>
            <a:ext cx="4389120" cy="365760"/>
            <a:chOff x="0" y="0"/>
            <a:chExt cx="5852160" cy="4876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852160" cy="487680"/>
            </a:xfrm>
            <a:custGeom>
              <a:avLst/>
              <a:gdLst/>
              <a:ahLst/>
              <a:cxnLst/>
              <a:rect r="r" b="b" t="t" l="l"/>
              <a:pathLst>
                <a:path h="4876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3A89E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5233904" y="4791456"/>
            <a:ext cx="731520" cy="475488"/>
            <a:chOff x="0" y="0"/>
            <a:chExt cx="975360" cy="6339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7536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97" t="0" r="-33397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9753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7498080" y="5413248"/>
            <a:ext cx="3108960" cy="475488"/>
            <a:chOff x="0" y="0"/>
            <a:chExt cx="4145280" cy="6339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145280" cy="633984"/>
            </a:xfrm>
            <a:custGeom>
              <a:avLst/>
              <a:gdLst/>
              <a:ahLst/>
              <a:cxnLst/>
              <a:rect r="r" b="b" t="t" l="l"/>
              <a:pathLst>
                <a:path h="63398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4145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Claim Similarity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698480" y="5468112"/>
            <a:ext cx="5266944" cy="365760"/>
            <a:chOff x="0" y="0"/>
            <a:chExt cx="7022592" cy="4876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022592" cy="487680"/>
            </a:xfrm>
            <a:custGeom>
              <a:avLst/>
              <a:gdLst/>
              <a:ahLst/>
              <a:cxnLst/>
              <a:rect r="r" b="b" t="t" l="l"/>
              <a:pathLst>
                <a:path h="487680" w="7022592">
                  <a:moveTo>
                    <a:pt x="0" y="0"/>
                  </a:moveTo>
                  <a:lnTo>
                    <a:pt x="7022592" y="0"/>
                  </a:lnTo>
                  <a:lnTo>
                    <a:pt x="702259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3A89E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6111728" y="5413248"/>
            <a:ext cx="731520" cy="475488"/>
            <a:chOff x="0" y="0"/>
            <a:chExt cx="975360" cy="63398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7536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97" t="0" r="-33397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9753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24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498080" y="6035040"/>
            <a:ext cx="3108960" cy="475488"/>
            <a:chOff x="0" y="0"/>
            <a:chExt cx="4145280" cy="63398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145280" cy="633984"/>
            </a:xfrm>
            <a:custGeom>
              <a:avLst/>
              <a:gdLst/>
              <a:ahLst/>
              <a:cxnLst/>
              <a:rect r="r" b="b" t="t" l="l"/>
              <a:pathLst>
                <a:path h="63398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4145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Price Deviation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698480" y="6089904"/>
            <a:ext cx="4169664" cy="365760"/>
            <a:chOff x="0" y="0"/>
            <a:chExt cx="5559552" cy="4876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559552" cy="487680"/>
            </a:xfrm>
            <a:custGeom>
              <a:avLst/>
              <a:gdLst/>
              <a:ahLst/>
              <a:cxnLst/>
              <a:rect r="r" b="b" t="t" l="l"/>
              <a:pathLst>
                <a:path h="48768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3A89E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5014448" y="6035040"/>
            <a:ext cx="731520" cy="475488"/>
            <a:chOff x="0" y="0"/>
            <a:chExt cx="975360" cy="63398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7536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97" t="0" r="-33397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9753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7498080" y="6656832"/>
            <a:ext cx="3108960" cy="475488"/>
            <a:chOff x="0" y="0"/>
            <a:chExt cx="4145280" cy="63398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145280" cy="633984"/>
            </a:xfrm>
            <a:custGeom>
              <a:avLst/>
              <a:gdLst/>
              <a:ahLst/>
              <a:cxnLst/>
              <a:rect r="r" b="b" t="t" l="l"/>
              <a:pathLst>
                <a:path h="63398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4145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Coding Anomaly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698480" y="6711696"/>
            <a:ext cx="3950208" cy="365760"/>
            <a:chOff x="0" y="0"/>
            <a:chExt cx="5266944" cy="4876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266944" cy="487680"/>
            </a:xfrm>
            <a:custGeom>
              <a:avLst/>
              <a:gdLst/>
              <a:ahLst/>
              <a:cxnLst/>
              <a:rect r="r" b="b" t="t" l="l"/>
              <a:pathLst>
                <a:path h="487680" w="5266944">
                  <a:moveTo>
                    <a:pt x="0" y="0"/>
                  </a:moveTo>
                  <a:lnTo>
                    <a:pt x="5266944" y="0"/>
                  </a:lnTo>
                  <a:lnTo>
                    <a:pt x="5266944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3A89E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4794992" y="6656832"/>
            <a:ext cx="731520" cy="475488"/>
            <a:chOff x="0" y="0"/>
            <a:chExt cx="975360" cy="6339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7536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97" t="0" r="-33397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9753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18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7498080" y="7278624"/>
            <a:ext cx="3108960" cy="475488"/>
            <a:chOff x="0" y="0"/>
            <a:chExt cx="4145280" cy="6339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145280" cy="633984"/>
            </a:xfrm>
            <a:custGeom>
              <a:avLst/>
              <a:gdLst/>
              <a:ahLst/>
              <a:cxnLst/>
              <a:rect r="r" b="b" t="t" l="l"/>
              <a:pathLst>
                <a:path h="63398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402" r="0" b="-77402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414528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Frequency Anomaly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698480" y="7333488"/>
            <a:ext cx="2194560" cy="365760"/>
            <a:chOff x="0" y="0"/>
            <a:chExt cx="2926080" cy="4876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926080" cy="487680"/>
            </a:xfrm>
            <a:custGeom>
              <a:avLst/>
              <a:gdLst/>
              <a:ahLst/>
              <a:cxnLst/>
              <a:rect r="r" b="b" t="t" l="l"/>
              <a:pathLst>
                <a:path h="4876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13A89E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3039344" y="7278624"/>
            <a:ext cx="731520" cy="475488"/>
            <a:chOff x="0" y="0"/>
            <a:chExt cx="975360" cy="63398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7536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397" t="0" r="-33397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9753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sp>
        <p:nvSpPr>
          <p:cNvPr name="TextBox 109" id="109"/>
          <p:cNvSpPr txBox="true"/>
          <p:nvPr/>
        </p:nvSpPr>
        <p:spPr>
          <a:xfrm rot="0">
            <a:off x="7498080" y="7917180"/>
            <a:ext cx="9875520" cy="44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D64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Total = 91 poin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914400" y="8795766"/>
            <a:ext cx="1645920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3A89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Dasar bobot: </a:t>
            </a:r>
            <a:r>
              <a:rPr lang="en-US" sz="18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ditetapkan awal oleh tim berdasarkan pertimbangan domain, lalu dikalibrasi pada data validasi simulasi; belum divalidasi dengan data nyata. 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3A89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Penjelasan: </a:t>
            </a:r>
            <a:r>
              <a:rPr lang="en-US" sz="18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kontribusi eksak wᵢ×sᵢ (SHAP opsional untuk komponen Isolation Forest). </a:t>
            </a:r>
          </a:p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3A89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Guardrail (rancangan): </a:t>
            </a:r>
            <a:r>
              <a:rPr lang="en-US" sz="18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indikator ≥ 0,9 → minimal High. Skor = prioritas pemeriksaan, bukan probabilitas kecurangan.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942975" y="491490"/>
            <a:ext cx="907423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53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RISK SCORING &amp; EXPLAINABILITY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DECE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71550"/>
            <a:ext cx="16459200" cy="1005840"/>
            <a:chOff x="0" y="0"/>
            <a:chExt cx="2194560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Tidak Berhenti di "Normal atau Abnormal"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14400" y="1920240"/>
          <a:ext cx="16383000" cy="4766469"/>
        </p:xfrm>
        <a:graphic>
          <a:graphicData uri="http://schemas.openxmlformats.org/drawingml/2006/table">
            <a:tbl>
              <a:tblPr/>
              <a:tblGrid>
                <a:gridCol w="5444274"/>
                <a:gridCol w="2554042"/>
                <a:gridCol w="2554042"/>
                <a:gridCol w="2554042"/>
                <a:gridCol w="3276600"/>
              </a:tblGrid>
              <a:tr h="584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Kemampuan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Manual / sampling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Rule-based saja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 black-box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ClaimGuard JKN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A89E"/>
                    </a:solidFill>
                  </a:tcPr>
                </a:tc>
              </a:tr>
              <a:tr h="584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Menangani volume besar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D64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F"/>
                    </a:solidFill>
                  </a:tcPr>
                </a:tc>
              </a:tr>
              <a:tr h="584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Skor risiko terukur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D64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28C2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◐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F"/>
                    </a:solidFill>
                  </a:tcPr>
                </a:tc>
              </a:tr>
              <a:tr h="584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Alasan yang bisa dijelaskan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D64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F"/>
                    </a:solidFill>
                  </a:tcPr>
                </a:tc>
              </a:tr>
              <a:tr h="6771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Menangkap pola tak terduga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28C2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◐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D64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F"/>
                    </a:solidFill>
                  </a:tcPr>
                </a:tc>
              </a:tr>
              <a:tr h="584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Daftar prioritas pemeriksaan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D64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28C2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◐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28C2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◐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F"/>
                    </a:solidFill>
                  </a:tcPr>
                </a:tc>
              </a:tr>
              <a:tr h="584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Keputusan akhir oleh manusia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28C2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◐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F"/>
                    </a:solidFill>
                  </a:tcPr>
                </a:tc>
              </a:tr>
              <a:tr h="58418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Dashboard pemantauan risiko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D64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28C2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◐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28C28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◐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2E9E5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F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914400" y="6858159"/>
            <a:ext cx="16459200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B6B7B"/>
                </a:solidFill>
                <a:latin typeface="Calibri (MS)"/>
                <a:ea typeface="Calibri (MS)"/>
                <a:cs typeface="Calibri (MS)"/>
                <a:sym typeface="Calibri (MS)"/>
              </a:rPr>
              <a:t>✓ ya   ◐ sebagian   ✗ tidak.  Penilaian tim atas karakteristik umum tiap pendekatan; kolom ClaimGuard = rancangan.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7406640"/>
            <a:ext cx="5303520" cy="2103120"/>
            <a:chOff x="0" y="0"/>
            <a:chExt cx="7071360" cy="28041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713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7406640"/>
            <a:ext cx="5303520" cy="109728"/>
            <a:chOff x="0" y="0"/>
            <a:chExt cx="7071360" cy="1463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71360" cy="146304"/>
            </a:xfrm>
            <a:custGeom>
              <a:avLst/>
              <a:gdLst/>
              <a:ahLst/>
              <a:cxnLst/>
              <a:rect r="r" b="b" t="t" l="l"/>
              <a:pathLst>
                <a:path h="14630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3A89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33856" y="7587996"/>
            <a:ext cx="49377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3A89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Deteksi hibrida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3856" y="8136636"/>
            <a:ext cx="493776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Aturan, anomaly detection, dan similarity digabung dalam satu skor.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92240" y="7406640"/>
            <a:ext cx="5303520" cy="2103120"/>
            <a:chOff x="0" y="0"/>
            <a:chExt cx="7071360" cy="2804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713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92240" y="7406640"/>
            <a:ext cx="5303520" cy="109728"/>
            <a:chOff x="0" y="0"/>
            <a:chExt cx="7071360" cy="1463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71360" cy="146304"/>
            </a:xfrm>
            <a:custGeom>
              <a:avLst/>
              <a:gdLst/>
              <a:ahLst/>
              <a:cxnLst/>
              <a:rect r="r" b="b" t="t" l="l"/>
              <a:pathLst>
                <a:path h="14630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3A89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711696" y="7587996"/>
            <a:ext cx="49377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3A89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Explainability by design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11696" y="8136636"/>
            <a:ext cx="493776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Skor aditif sehingga alasan eksak dan bisa ditelusuri.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70080" y="7406640"/>
            <a:ext cx="5303520" cy="2103120"/>
            <a:chOff x="0" y="0"/>
            <a:chExt cx="7071360" cy="28041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713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2804160"/>
                  </a:lnTo>
                  <a:lnTo>
                    <a:pt x="0" y="280416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070080" y="7406640"/>
            <a:ext cx="5303520" cy="109728"/>
            <a:chOff x="0" y="0"/>
            <a:chExt cx="7071360" cy="1463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71360" cy="146304"/>
            </a:xfrm>
            <a:custGeom>
              <a:avLst/>
              <a:gdLst/>
              <a:ahLst/>
              <a:cxnLst/>
              <a:rect r="r" b="b" t="t" l="l"/>
              <a:pathLst>
                <a:path h="14630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13A89E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289536" y="7587996"/>
            <a:ext cx="49377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3A89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Prioritization-first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89536" y="8136636"/>
            <a:ext cx="4937760" cy="1318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Keluaran dirancang untuk alur kerja verifikator, bukan sekadar klasifikasi.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1550" y="522064"/>
            <a:ext cx="907423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53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KEUNGGULAN &amp; INOVASI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DECE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98522" y="1028700"/>
            <a:ext cx="16459200" cy="1005840"/>
            <a:chOff x="0" y="0"/>
            <a:chExt cx="2194560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Kematangan dan Bukti: Apa yang Sudah Berfungsi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167890"/>
            <a:ext cx="3017520" cy="914400"/>
            <a:chOff x="0" y="0"/>
            <a:chExt cx="402336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23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023360">
                  <a:moveTo>
                    <a:pt x="0" y="0"/>
                  </a:moveTo>
                  <a:lnTo>
                    <a:pt x="3413760" y="0"/>
                  </a:lnTo>
                  <a:lnTo>
                    <a:pt x="4023360" y="609600"/>
                  </a:lnTo>
                  <a:lnTo>
                    <a:pt x="3413760" y="1219200"/>
                  </a:lnTo>
                  <a:lnTo>
                    <a:pt x="0" y="1219200"/>
                  </a:lnTo>
                  <a:lnTo>
                    <a:pt x="609600" y="609600"/>
                  </a:lnTo>
                  <a:close/>
                </a:path>
              </a:pathLst>
            </a:custGeom>
            <a:solidFill>
              <a:srgbClr val="DCE6EE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023360" cy="1266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5B6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57600" y="2167890"/>
            <a:ext cx="3017520" cy="914400"/>
            <a:chOff x="0" y="0"/>
            <a:chExt cx="4023360" cy="1219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023360">
                  <a:moveTo>
                    <a:pt x="0" y="0"/>
                  </a:moveTo>
                  <a:lnTo>
                    <a:pt x="3413760" y="0"/>
                  </a:lnTo>
                  <a:lnTo>
                    <a:pt x="4023360" y="609600"/>
                  </a:lnTo>
                  <a:lnTo>
                    <a:pt x="3413760" y="1219200"/>
                  </a:lnTo>
                  <a:lnTo>
                    <a:pt x="0" y="1219200"/>
                  </a:lnTo>
                  <a:lnTo>
                    <a:pt x="609600" y="609600"/>
                  </a:lnTo>
                  <a:close/>
                </a:path>
              </a:pathLst>
            </a:custGeom>
            <a:solidFill>
              <a:srgbClr val="DCE6EE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023360" cy="1266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5B6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Mockup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00800" y="2167890"/>
            <a:ext cx="3017520" cy="914400"/>
            <a:chOff x="0" y="0"/>
            <a:chExt cx="402336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23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023360">
                  <a:moveTo>
                    <a:pt x="0" y="0"/>
                  </a:moveTo>
                  <a:lnTo>
                    <a:pt x="3413760" y="0"/>
                  </a:lnTo>
                  <a:lnTo>
                    <a:pt x="4023360" y="609600"/>
                  </a:lnTo>
                  <a:lnTo>
                    <a:pt x="3413760" y="1219200"/>
                  </a:lnTo>
                  <a:lnTo>
                    <a:pt x="0" y="1219200"/>
                  </a:lnTo>
                  <a:lnTo>
                    <a:pt x="609600" y="609600"/>
                  </a:lnTo>
                  <a:close/>
                </a:path>
              </a:pathLst>
            </a:custGeom>
            <a:solidFill>
              <a:srgbClr val="13A89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023360" cy="1266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Prototype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0" y="2167890"/>
            <a:ext cx="3017520" cy="914400"/>
            <a:chOff x="0" y="0"/>
            <a:chExt cx="402336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23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023360">
                  <a:moveTo>
                    <a:pt x="0" y="0"/>
                  </a:moveTo>
                  <a:lnTo>
                    <a:pt x="3413760" y="0"/>
                  </a:lnTo>
                  <a:lnTo>
                    <a:pt x="4023360" y="609600"/>
                  </a:lnTo>
                  <a:lnTo>
                    <a:pt x="3413760" y="1219200"/>
                  </a:lnTo>
                  <a:lnTo>
                    <a:pt x="0" y="1219200"/>
                  </a:lnTo>
                  <a:lnTo>
                    <a:pt x="609600" y="609600"/>
                  </a:lnTo>
                  <a:close/>
                </a:path>
              </a:pathLst>
            </a:custGeom>
            <a:solidFill>
              <a:srgbClr val="DCE6E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023360" cy="1266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5B6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MVP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887200" y="2167890"/>
            <a:ext cx="3017520" cy="914400"/>
            <a:chOff x="0" y="0"/>
            <a:chExt cx="402336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233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023360">
                  <a:moveTo>
                    <a:pt x="0" y="0"/>
                  </a:moveTo>
                  <a:lnTo>
                    <a:pt x="3413760" y="0"/>
                  </a:lnTo>
                  <a:lnTo>
                    <a:pt x="4023360" y="609600"/>
                  </a:lnTo>
                  <a:lnTo>
                    <a:pt x="3413760" y="1219200"/>
                  </a:lnTo>
                  <a:lnTo>
                    <a:pt x="0" y="1219200"/>
                  </a:lnTo>
                  <a:lnTo>
                    <a:pt x="609600" y="609600"/>
                  </a:lnTo>
                  <a:close/>
                </a:path>
              </a:pathLst>
            </a:custGeom>
            <a:solidFill>
              <a:srgbClr val="DCE6EE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4023360" cy="1266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5B6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Produk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952345" y="1983867"/>
            <a:ext cx="2926080" cy="1463040"/>
            <a:chOff x="0" y="0"/>
            <a:chExt cx="3901440" cy="1950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014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720" r="0" b="2977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90144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13A8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tim: Prototype </a:t>
              </a:r>
              <a:r>
                <a:rPr lang="en-US" sz="1700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(fitur utama berfungsi dan dapat didemonstrasikan).  Status aktual: </a:t>
              </a:r>
              <a:r>
                <a:rPr lang="en-US" sz="1700" b="true">
                  <a:solidFill>
                    <a:srgbClr val="D64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[isi setelah prototype diuji]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98522" y="3523612"/>
            <a:ext cx="4329427" cy="4512307"/>
            <a:chOff x="0" y="0"/>
            <a:chExt cx="5772569" cy="601640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72531" cy="6016371"/>
            </a:xfrm>
            <a:custGeom>
              <a:avLst/>
              <a:gdLst/>
              <a:ahLst/>
              <a:cxnLst/>
              <a:rect r="r" b="b" t="t" l="l"/>
              <a:pathLst>
                <a:path h="6016371" w="5772531">
                  <a:moveTo>
                    <a:pt x="0" y="0"/>
                  </a:moveTo>
                  <a:lnTo>
                    <a:pt x="5772531" y="0"/>
                  </a:lnTo>
                  <a:lnTo>
                    <a:pt x="5772531" y="6016371"/>
                  </a:lnTo>
                  <a:lnTo>
                    <a:pt x="0" y="6016371"/>
                  </a:lnTo>
                  <a:close/>
                </a:path>
              </a:pathLst>
            </a:custGeom>
            <a:solidFill>
              <a:srgbClr val="F7FAFC"/>
            </a:solidFill>
            <a:ln w="31750" cap="sq">
              <a:solidFill>
                <a:srgbClr val="13A89E"/>
              </a:solidFill>
              <a:prstDash val="dash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97280" y="3630930"/>
            <a:ext cx="3931920" cy="4297680"/>
            <a:chOff x="0" y="0"/>
            <a:chExt cx="5242560" cy="5730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4256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238" t="0" r="-90238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242560" cy="576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5B6B7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[MOCKUP 1] Screenshot dashboard risiko: kartu ringkasan, distribusi Low-Critical, daftar klaim prioritas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379082" y="3523612"/>
            <a:ext cx="4329427" cy="4512307"/>
            <a:chOff x="0" y="0"/>
            <a:chExt cx="5772569" cy="601640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72531" cy="6016371"/>
            </a:xfrm>
            <a:custGeom>
              <a:avLst/>
              <a:gdLst/>
              <a:ahLst/>
              <a:cxnLst/>
              <a:rect r="r" b="b" t="t" l="l"/>
              <a:pathLst>
                <a:path h="6016371" w="5772531">
                  <a:moveTo>
                    <a:pt x="0" y="0"/>
                  </a:moveTo>
                  <a:lnTo>
                    <a:pt x="5772531" y="0"/>
                  </a:lnTo>
                  <a:lnTo>
                    <a:pt x="5772531" y="6016371"/>
                  </a:lnTo>
                  <a:lnTo>
                    <a:pt x="0" y="6016371"/>
                  </a:lnTo>
                  <a:close/>
                </a:path>
              </a:pathLst>
            </a:custGeom>
            <a:solidFill>
              <a:srgbClr val="F7FAFC"/>
            </a:solidFill>
            <a:ln w="31750" cap="sq">
              <a:solidFill>
                <a:srgbClr val="13A89E"/>
              </a:solidFill>
              <a:prstDash val="dash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577840" y="3630930"/>
            <a:ext cx="3931920" cy="4297680"/>
            <a:chOff x="0" y="0"/>
            <a:chExt cx="5242560" cy="5730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42560" cy="5730240"/>
            </a:xfrm>
            <a:custGeom>
              <a:avLst/>
              <a:gdLst/>
              <a:ahLst/>
              <a:cxnLst/>
              <a:rect r="r" b="b" t="t" l="l"/>
              <a:pathLst>
                <a:path h="57302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0238" t="0" r="-90238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242560" cy="576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5B6B7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[MOCKUP 2] Screenshot detail klaim: skor, kategori, bar faktor risiko, klaim pembanding</a:t>
              </a:r>
            </a:p>
          </p:txBody>
        </p:sp>
      </p:grpSp>
      <p:graphicFrame>
        <p:nvGraphicFramePr>
          <p:cNvPr name="Table 35" id="35"/>
          <p:cNvGraphicFramePr>
            <a:graphicFrameLocks noGrp="true"/>
          </p:cNvGraphicFramePr>
          <p:nvPr/>
        </p:nvGraphicFramePr>
        <p:xfrm>
          <a:off x="10058400" y="3539490"/>
          <a:ext cx="7467600" cy="4038600"/>
        </p:xfrm>
        <a:graphic>
          <a:graphicData uri="http://schemas.openxmlformats.org/drawingml/2006/table">
            <a:tbl>
              <a:tblPr/>
              <a:tblGrid>
                <a:gridCol w="3631127"/>
                <a:gridCol w="1647780"/>
                <a:gridCol w="2188693"/>
              </a:tblGrid>
              <a:tr h="5332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Komponen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Status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Bukti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842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Dataset simulasi + label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B6B7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B6B7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5842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Deteksi 4 modus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B6B7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B6B7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Risk Score 0-100 + kategori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B6B7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B6B7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5842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Penjelasan faktor risiko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B6B7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B6B7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Daftar prioritas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B6B7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B6B7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5842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B2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Dashboard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B6B7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5B6B7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36" id="36"/>
          <p:cNvSpPr txBox="true"/>
          <p:nvPr/>
        </p:nvSpPr>
        <p:spPr>
          <a:xfrm rot="0">
            <a:off x="10058400" y="7845171"/>
            <a:ext cx="749808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i="true">
                <a:solidFill>
                  <a:srgbClr val="5B6B7B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Status: ✓ berfungsi · ◐ sebagian · ✗ belum. Bukti: screenshot / video / repo.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14400" y="8294370"/>
            <a:ext cx="12070080" cy="1371600"/>
            <a:chOff x="0" y="0"/>
            <a:chExt cx="16093440" cy="1828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093439" cy="1828800"/>
            </a:xfrm>
            <a:custGeom>
              <a:avLst/>
              <a:gdLst/>
              <a:ahLst/>
              <a:cxnLst/>
              <a:rect r="r" b="b" t="t" l="l"/>
              <a:pathLst>
                <a:path h="182880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80160" y="8294370"/>
            <a:ext cx="11521440" cy="1371600"/>
            <a:chOff x="0" y="0"/>
            <a:chExt cx="15361920" cy="1828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361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5361920">
                  <a:moveTo>
                    <a:pt x="0" y="0"/>
                  </a:moveTo>
                  <a:lnTo>
                    <a:pt x="15361920" y="0"/>
                  </a:lnTo>
                  <a:lnTo>
                    <a:pt x="15361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536192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Jenis pengujian: </a:t>
              </a:r>
              <a:r>
                <a:rPr lang="en-US" sz="2000">
                  <a:solidFill>
                    <a:srgbClr val="0B254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pengujian internal pada data simulasi. Belum ada pilot dengan data peserta nyata atau pengguna BPJS, dan kami tidak mengklaimnya.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334362" y="8278492"/>
            <a:ext cx="4237987" cy="1403347"/>
            <a:chOff x="0" y="0"/>
            <a:chExt cx="5650649" cy="187112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650611" cy="1871091"/>
            </a:xfrm>
            <a:custGeom>
              <a:avLst/>
              <a:gdLst/>
              <a:ahLst/>
              <a:cxnLst/>
              <a:rect r="r" b="b" t="t" l="l"/>
              <a:pathLst>
                <a:path h="1871091" w="5650611">
                  <a:moveTo>
                    <a:pt x="0" y="0"/>
                  </a:moveTo>
                  <a:lnTo>
                    <a:pt x="5650611" y="0"/>
                  </a:lnTo>
                  <a:lnTo>
                    <a:pt x="5650611" y="1871091"/>
                  </a:lnTo>
                  <a:lnTo>
                    <a:pt x="0" y="1871091"/>
                  </a:lnTo>
                  <a:close/>
                </a:path>
              </a:pathLst>
            </a:custGeom>
            <a:solidFill>
              <a:srgbClr val="F7FAFC"/>
            </a:solidFill>
            <a:ln w="31750" cap="sq">
              <a:solidFill>
                <a:srgbClr val="13A89E"/>
              </a:solidFill>
              <a:prstDash val="dash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533120" y="8385810"/>
            <a:ext cx="3840480" cy="1188720"/>
            <a:chOff x="0" y="0"/>
            <a:chExt cx="5120640" cy="1584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20640" cy="1584960"/>
            </a:xfrm>
            <a:custGeom>
              <a:avLst/>
              <a:gdLst/>
              <a:ahLst/>
              <a:cxnLst/>
              <a:rect r="r" b="b" t="t" l="l"/>
              <a:pathLst>
                <a:path h="15849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951" r="0" b="-1295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12064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5B6B7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[QR / tautan video demo]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71550" y="398239"/>
            <a:ext cx="907423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53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KEMATANGAN &amp; PROTOTYPE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DECE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89971"/>
            <a:ext cx="16459200" cy="1005840"/>
            <a:chOff x="0" y="0"/>
            <a:chExt cx="2194560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Evaluasi pada Data Simulasi: Dirancang agar Tidak Circular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2186311"/>
            <a:ext cx="5852160" cy="6217920"/>
            <a:chOff x="0" y="0"/>
            <a:chExt cx="7802880" cy="8290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02880" cy="8290560"/>
            </a:xfrm>
            <a:custGeom>
              <a:avLst/>
              <a:gdLst/>
              <a:ahLst/>
              <a:cxnLst/>
              <a:rect r="r" b="b" t="t" l="l"/>
              <a:pathLst>
                <a:path h="829056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8290560"/>
                  </a:lnTo>
                  <a:lnTo>
                    <a:pt x="0" y="829056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88720" y="2276227"/>
            <a:ext cx="548640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99">
                <a:solidFill>
                  <a:srgbClr val="13A89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RANCANGAN EVALUASI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8720" y="2788291"/>
            <a:ext cx="5394960" cy="552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Data uji terpisah dari data latih dan kalibrasi</a:t>
            </a:r>
          </a:p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Anomali 3 tingkat: jelas, sedang, samar</a:t>
            </a:r>
          </a:p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Noise dan klaim "wajar tapi mirip" (hard negatives)</a:t>
            </a:r>
          </a:p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Label ground truth tidak menjadi fitur model</a:t>
            </a:r>
          </a:p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Ambang dan bobot dikunci sebelum uji</a:t>
            </a:r>
          </a:p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Pembanding: aturan saja vs hibrida</a:t>
            </a:r>
          </a:p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Laporan per modus dan Precision@K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32320" y="2148211"/>
            <a:ext cx="493776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3A89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Confusion matrix (data uji)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132320" y="2698375"/>
            <a:ext cx="1463040" cy="731520"/>
            <a:chOff x="0" y="0"/>
            <a:chExt cx="1950720" cy="975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" cy="975360"/>
            </a:xfrm>
            <a:custGeom>
              <a:avLst/>
              <a:gdLst/>
              <a:ahLst/>
              <a:cxnLst/>
              <a:rect r="r" b="b" t="t" l="l"/>
              <a:pathLst>
                <a:path h="9753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95360" y="2698375"/>
            <a:ext cx="1737360" cy="731520"/>
            <a:chOff x="0" y="0"/>
            <a:chExt cx="231648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16480" cy="975360"/>
            </a:xfrm>
            <a:custGeom>
              <a:avLst/>
              <a:gdLst/>
              <a:ahLst/>
              <a:cxnLst/>
              <a:rect r="r" b="b" t="t" l="l"/>
              <a:pathLst>
                <a:path h="97536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DCE6E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316480" cy="1003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5B6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Prediksi: berisiko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332720" y="2698375"/>
            <a:ext cx="1737360" cy="731520"/>
            <a:chOff x="0" y="0"/>
            <a:chExt cx="231648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16480" cy="975360"/>
            </a:xfrm>
            <a:custGeom>
              <a:avLst/>
              <a:gdLst/>
              <a:ahLst/>
              <a:cxnLst/>
              <a:rect r="r" b="b" t="t" l="l"/>
              <a:pathLst>
                <a:path h="97536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DCE6EE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316480" cy="1003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5B6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Prediksi: wajar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32320" y="3612775"/>
            <a:ext cx="1463040" cy="914400"/>
            <a:chOff x="0" y="0"/>
            <a:chExt cx="195072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50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CE6EE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950720" cy="1247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5B6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Anomali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595360" y="3612775"/>
            <a:ext cx="1737360" cy="914400"/>
            <a:chOff x="0" y="0"/>
            <a:chExt cx="231648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16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7F2E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31648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TP [ ]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332720" y="3612775"/>
            <a:ext cx="1737360" cy="914400"/>
            <a:chOff x="0" y="0"/>
            <a:chExt cx="231648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16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BE3E3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31648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FN [ ]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32320" y="4527175"/>
            <a:ext cx="1463040" cy="914400"/>
            <a:chOff x="0" y="0"/>
            <a:chExt cx="195072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50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CE6EE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950720" cy="1247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5B6B7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Wajar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595360" y="4527175"/>
            <a:ext cx="1737360" cy="914400"/>
            <a:chOff x="0" y="0"/>
            <a:chExt cx="231648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316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BE3E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31648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FP [ ]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332720" y="4527175"/>
            <a:ext cx="1737360" cy="914400"/>
            <a:chOff x="0" y="0"/>
            <a:chExt cx="231648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164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7F2E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31648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TN [ ]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116442" y="5736593"/>
            <a:ext cx="4969507" cy="2683507"/>
            <a:chOff x="0" y="0"/>
            <a:chExt cx="6626009" cy="357800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25971" cy="3577971"/>
            </a:xfrm>
            <a:custGeom>
              <a:avLst/>
              <a:gdLst/>
              <a:ahLst/>
              <a:cxnLst/>
              <a:rect r="r" b="b" t="t" l="l"/>
              <a:pathLst>
                <a:path h="3577971" w="6625971">
                  <a:moveTo>
                    <a:pt x="0" y="0"/>
                  </a:moveTo>
                  <a:lnTo>
                    <a:pt x="6625971" y="0"/>
                  </a:lnTo>
                  <a:lnTo>
                    <a:pt x="6625971" y="3577971"/>
                  </a:lnTo>
                  <a:lnTo>
                    <a:pt x="0" y="3577971"/>
                  </a:lnTo>
                  <a:close/>
                </a:path>
              </a:pathLst>
            </a:custGeom>
            <a:solidFill>
              <a:srgbClr val="F7FAFC"/>
            </a:solidFill>
            <a:ln w="31750" cap="sq">
              <a:solidFill>
                <a:srgbClr val="13A89E"/>
              </a:solidFill>
              <a:prstDash val="dash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315200" y="5843911"/>
            <a:ext cx="4572000" cy="2468880"/>
            <a:chOff x="0" y="0"/>
            <a:chExt cx="6096000" cy="3291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960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9283" t="0" r="-1928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096000" cy="3329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5B6B7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[GRAFIK] Recall per modus x tingkat kesulitan (bar chart dari hasil uji)</a:t>
              </a:r>
            </a:p>
          </p:txBody>
        </p:sp>
      </p:grpSp>
      <p:graphicFrame>
        <p:nvGraphicFramePr>
          <p:cNvPr name="Table 43" id="43"/>
          <p:cNvGraphicFramePr>
            <a:graphicFrameLocks noGrp="true"/>
          </p:cNvGraphicFramePr>
          <p:nvPr/>
        </p:nvGraphicFramePr>
        <p:xfrm>
          <a:off x="12435840" y="2186311"/>
          <a:ext cx="5105400" cy="6019800"/>
        </p:xfrm>
        <a:graphic>
          <a:graphicData uri="http://schemas.openxmlformats.org/drawingml/2006/table">
            <a:tbl>
              <a:tblPr/>
              <a:tblGrid>
                <a:gridCol w="3635968"/>
                <a:gridCol w="1469432"/>
              </a:tblGrid>
              <a:tr h="5459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Metrik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Hasil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7198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D64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7198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D64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98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False positive rate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D64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7198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Precision@top 1%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D64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37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Konsistensi skor (ulang, seed beda)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D64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8937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Waktu temukan klaim prioritas: dengan sistem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D64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682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Waktu: tanpa sistem (manual)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D6454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[ 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grpSp>
        <p:nvGrpSpPr>
          <p:cNvPr name="Group 44" id="44"/>
          <p:cNvGrpSpPr/>
          <p:nvPr/>
        </p:nvGrpSpPr>
        <p:grpSpPr>
          <a:xfrm rot="0">
            <a:off x="914400" y="8705850"/>
            <a:ext cx="16642080" cy="1005840"/>
            <a:chOff x="0" y="0"/>
            <a:chExt cx="22189440" cy="13411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88720" y="8734425"/>
            <a:ext cx="16093440" cy="1005840"/>
            <a:chOff x="0" y="0"/>
            <a:chExt cx="21457920" cy="13411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21457920" cy="1388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5EE0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Evaluasi simulasi, bukan bukti kinerja di dunia nyata. </a:t>
              </a: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Seluruh angka diisi dari hasil pengujian sebenarnya; hasil yang kurang baik per modus ikut dilaporkan.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52500" y="475621"/>
            <a:ext cx="907423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53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HASIL EVALUASI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DECE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047750"/>
            <a:ext cx="16459200" cy="1005840"/>
            <a:chOff x="0" y="0"/>
            <a:chExt cx="2194560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Dampak yang Diharapkan: Terarah, Terukur, Diuji Bertahap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14400" y="2364486"/>
          <a:ext cx="8661400" cy="4191000"/>
        </p:xfrm>
        <a:graphic>
          <a:graphicData uri="http://schemas.openxmlformats.org/drawingml/2006/table">
            <a:tbl>
              <a:tblPr/>
              <a:tblGrid>
                <a:gridCol w="2646120"/>
                <a:gridCol w="2826880"/>
                <a:gridCol w="3188399"/>
              </a:tblGrid>
              <a:tr h="55519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Aspek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Sebelum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Sesudah (target)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9089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3A89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Prioritas pemeriksaan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Klaim hampir diperlakukan setara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Diurutkan menurut skor risiko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4"/>
                    </a:solidFill>
                  </a:tcPr>
                </a:tc>
              </a:tr>
              <a:tr h="9089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3A89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Alasan temuan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Bergantung pada pemeriksa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Faktor risiko tertelusur per klaim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4"/>
                    </a:solidFill>
                  </a:tcPr>
                </a:tc>
              </a:tr>
              <a:tr h="9089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3A89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Pola lintas klaim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Sulit terlihat per berkas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Dibandingkan otomatis (kemiripan, frekuensi)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4"/>
                    </a:solidFill>
                  </a:tcPr>
                </a:tc>
              </a:tr>
              <a:tr h="9089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13A89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Waktu temukan klaim prioritas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D64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[baseline manual]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D64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[hasil uji waktu]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4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914400" y="6705981"/>
            <a:ext cx="8595360" cy="413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3A89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Cara mengukur (estimasi)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7172706"/>
            <a:ext cx="8595360" cy="2049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8469" indent="-22923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Reduksi beban review = 1 − (klaim yang diperiksa untuk menangkap [x]% anomali ÷ total klaim)</a:t>
            </a:r>
          </a:p>
          <a:p>
            <a:pPr algn="l" marL="458469" indent="-22923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Asumsi: berlaku pada dataset simulasi dan komposisi anomali yang kami rancang</a:t>
            </a:r>
          </a:p>
          <a:p>
            <a:pPr algn="l" marL="458469" indent="-229235" lvl="1">
              <a:lnSpc>
                <a:spcPts val="2279"/>
              </a:lnSpc>
              <a:buFont typeface="Arial"/>
              <a:buChar char="•"/>
            </a:pPr>
            <a:r>
              <a:rPr lang="en-US" sz="1899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Tidak ada klaim penghematan rupiah: butuh data nyata dan uji pilot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75520" y="2364486"/>
            <a:ext cx="3840480" cy="3566160"/>
            <a:chOff x="0" y="0"/>
            <a:chExt cx="5120640" cy="4754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206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875520" y="2364486"/>
            <a:ext cx="3840480" cy="621792"/>
            <a:chOff x="0" y="0"/>
            <a:chExt cx="5120640" cy="8290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20640" cy="829056"/>
            </a:xfrm>
            <a:custGeom>
              <a:avLst/>
              <a:gdLst/>
              <a:ahLst/>
              <a:cxnLst/>
              <a:rect r="r" b="b" t="t" l="l"/>
              <a:pathLst>
                <a:path h="82905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1B4F7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058400" y="2364486"/>
            <a:ext cx="3474720" cy="621792"/>
            <a:chOff x="0" y="0"/>
            <a:chExt cx="4632960" cy="8290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2960" cy="829056"/>
            </a:xfrm>
            <a:custGeom>
              <a:avLst/>
              <a:gdLst/>
              <a:ahLst/>
              <a:cxnLst/>
              <a:rect r="r" b="b" t="t" l="l"/>
              <a:pathLst>
                <a:path h="82905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63296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Peserta JKN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058400" y="3094482"/>
            <a:ext cx="3474720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Identitas peserta dapat disalahgunakan untuk klaim fiktif (kasus KPK 2024 memakai dokumen warga dari bakti sosial). Skrining dini membantu menjaga dana dan identitas.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898880" y="2364486"/>
            <a:ext cx="3840480" cy="3566160"/>
            <a:chOff x="0" y="0"/>
            <a:chExt cx="5120640" cy="4754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06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898880" y="2364486"/>
            <a:ext cx="3840480" cy="621792"/>
            <a:chOff x="0" y="0"/>
            <a:chExt cx="5120640" cy="8290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0640" cy="829056"/>
            </a:xfrm>
            <a:custGeom>
              <a:avLst/>
              <a:gdLst/>
              <a:ahLst/>
              <a:cxnLst/>
              <a:rect r="r" b="b" t="t" l="l"/>
              <a:pathLst>
                <a:path h="82905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1E8A7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760" y="2364486"/>
            <a:ext cx="3474720" cy="621792"/>
            <a:chOff x="0" y="0"/>
            <a:chExt cx="4632960" cy="829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32960" cy="829056"/>
            </a:xfrm>
            <a:custGeom>
              <a:avLst/>
              <a:gdLst/>
              <a:ahLst/>
              <a:cxnLst/>
              <a:rect r="r" b="b" t="t" l="l"/>
              <a:pathLst>
                <a:path h="82905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463296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Fasilitas kesehatan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4081760" y="3094482"/>
            <a:ext cx="3474720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Sinyal dini pola klaim tidak biasa untuk koreksi internal. Faskes yang terbukti fraud wajib mengembalikan kerugian, kena denda, dan dapat diputus kerja samanya.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875520" y="6113526"/>
            <a:ext cx="3840480" cy="3566160"/>
            <a:chOff x="0" y="0"/>
            <a:chExt cx="5120640" cy="47548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06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75520" y="6113526"/>
            <a:ext cx="3840480" cy="621792"/>
            <a:chOff x="0" y="0"/>
            <a:chExt cx="5120640" cy="82905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20640" cy="829056"/>
            </a:xfrm>
            <a:custGeom>
              <a:avLst/>
              <a:gdLst/>
              <a:ahLst/>
              <a:cxnLst/>
              <a:rect r="r" b="b" t="t" l="l"/>
              <a:pathLst>
                <a:path h="82905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058400" y="6113526"/>
            <a:ext cx="3474720" cy="621792"/>
            <a:chOff x="0" y="0"/>
            <a:chExt cx="4632960" cy="8290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632960" cy="829056"/>
            </a:xfrm>
            <a:custGeom>
              <a:avLst/>
              <a:gdLst/>
              <a:ahLst/>
              <a:cxnLst/>
              <a:rect r="r" b="b" t="t" l="l"/>
              <a:pathLst>
                <a:path h="82905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463296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BPJS Kesehatan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0058400" y="6843522"/>
            <a:ext cx="3474720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Pemeriksaan terarah di tengah 725,3 juta layanan JKN (2025) dan banyaknya klaim yang harus ditinjau.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898880" y="6113526"/>
            <a:ext cx="3840480" cy="3566160"/>
            <a:chOff x="0" y="0"/>
            <a:chExt cx="5120640" cy="47548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20640" cy="4754880"/>
            </a:xfrm>
            <a:custGeom>
              <a:avLst/>
              <a:gdLst/>
              <a:ahLst/>
              <a:cxnLst/>
              <a:rect r="r" b="b" t="t" l="l"/>
              <a:pathLst>
                <a:path h="47548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754880"/>
                  </a:lnTo>
                  <a:lnTo>
                    <a:pt x="0" y="475488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898880" y="6113526"/>
            <a:ext cx="3840480" cy="621792"/>
            <a:chOff x="0" y="0"/>
            <a:chExt cx="5120640" cy="8290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20640" cy="829056"/>
            </a:xfrm>
            <a:custGeom>
              <a:avLst/>
              <a:gdLst/>
              <a:ahLst/>
              <a:cxnLst/>
              <a:rect r="r" b="b" t="t" l="l"/>
              <a:pathLst>
                <a:path h="82905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4A6A8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081760" y="6113526"/>
            <a:ext cx="3474720" cy="621792"/>
            <a:chOff x="0" y="0"/>
            <a:chExt cx="4632960" cy="8290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632960" cy="829056"/>
            </a:xfrm>
            <a:custGeom>
              <a:avLst/>
              <a:gdLst/>
              <a:ahLst/>
              <a:cxnLst/>
              <a:rect r="r" b="b" t="t" l="l"/>
              <a:pathLst>
                <a:path h="829056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886" r="0" b="-5888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63296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Sistem JKN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4081760" y="6843522"/>
            <a:ext cx="3474720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Dana lebih terjaga, proses lebih transparan, dan pengelolaan risiko berbasis data.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49282" y="541114"/>
            <a:ext cx="907423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53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DAMPAK &amp; NILAI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781679"/>
            <a:chOff x="0" y="0"/>
            <a:chExt cx="24384000" cy="143755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4375572"/>
            </a:xfrm>
            <a:custGeom>
              <a:avLst/>
              <a:gdLst/>
              <a:ahLst/>
              <a:cxnLst/>
              <a:rect r="r" b="b" t="t" l="l"/>
              <a:pathLst>
                <a:path h="14375572" w="24384000">
                  <a:moveTo>
                    <a:pt x="24384000" y="14375572"/>
                  </a:moveTo>
                  <a:lnTo>
                    <a:pt x="0" y="14375572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4375572"/>
                  </a:lnTo>
                  <a:close/>
                </a:path>
              </a:pathLst>
            </a:custGeom>
            <a:solidFill>
              <a:srgbClr val="EDECE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057275"/>
            <a:ext cx="16459200" cy="1005840"/>
            <a:chOff x="0" y="0"/>
            <a:chExt cx="2194560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Risiko, Privasi, dan Etika: Tiga Risiko Paling Kritis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914400" y="2093595"/>
          <a:ext cx="16586200" cy="6172200"/>
        </p:xfrm>
        <a:graphic>
          <a:graphicData uri="http://schemas.openxmlformats.org/drawingml/2006/table">
            <a:tbl>
              <a:tblPr/>
              <a:tblGrid>
                <a:gridCol w="3926056"/>
                <a:gridCol w="5286820"/>
                <a:gridCol w="7373324"/>
              </a:tblGrid>
              <a:tr h="5606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Risiko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Mengapa penting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Mitigasi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18109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13A89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1. Privasi data kesehatan</a:t>
                      </a:r>
                      <a:endParaRPr lang="en-US" sz="1100"/>
                    </a:p>
                    <a:p>
                      <a:pPr algn="l">
                        <a:lnSpc>
                          <a:spcPts val="2279"/>
                        </a:lnSpc>
                      </a:pPr>
                      <a:r>
                        <a:rPr lang="en-US" sz="1899" b="true">
                          <a:solidFill>
                            <a:srgbClr val="13A89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(UU 27/2022 PDP)</a:t>
                      </a:r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 klaim memuat informasi kesehatan peserta; data peserta JKN riil dilarang tanpa izin tertulis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100% data sintetis; ID dipseudonimkan; atribut diminimalkan; data riil hanya setelah izin resmi; akses berbasis peran dan audit log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4"/>
                    </a:solidFill>
                  </a:tcPr>
                </a:tc>
              </a:tr>
              <a:tr h="19002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13A89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2. Bias dan salah tandai</a:t>
                      </a:r>
                      <a:endParaRPr lang="en-US" sz="1100"/>
                    </a:p>
                    <a:p>
                      <a:pPr algn="l">
                        <a:lnSpc>
                          <a:spcPts val="2279"/>
                        </a:lnSpc>
                      </a:pPr>
                      <a:r>
                        <a:rPr lang="en-US" sz="1899" b="true">
                          <a:solidFill>
                            <a:srgbClr val="13A89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(false positive)</a:t>
                      </a:r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Faskes besar atau tipe tertentu bisa tampak tidak wajar karena kasusnya lebih kompleks, sehingga bisa dirugikan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Pembanding per kelompok kasus dan tipe/kelas faskes; audit rasio klaim ditandai antar-kelompok faskes; ambang dikalibrasi; skor = prioritas, bukan vonis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4"/>
                    </a:solidFill>
                  </a:tcPr>
                </a:tc>
              </a:tr>
              <a:tr h="19002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13A89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3. Ketergantungan pada skor</a:t>
                      </a:r>
                      <a:endParaRPr lang="en-US" sz="1100"/>
                    </a:p>
                    <a:p>
                      <a:pPr algn="l">
                        <a:lnSpc>
                          <a:spcPts val="2279"/>
                        </a:lnSpc>
                      </a:pPr>
                      <a:r>
                        <a:rPr lang="en-US" sz="1899" b="true">
                          <a:solidFill>
                            <a:srgbClr val="13A89E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(otomatisasi keputusan)</a:t>
                      </a:r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Skor tinggi bisa dianggap sama dengan kecurangan terbukti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0B2545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Human-in-the-loop: keputusan akhir oleh verifikator/tim berwenang; setiap skor disertai alasan dan klaim pembanding; klarifikasi ke faskes mengikuti mekanisme Permenkes 16/2019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4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914400" y="8585835"/>
            <a:ext cx="16642080" cy="1005840"/>
            <a:chOff x="0" y="0"/>
            <a:chExt cx="2218944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94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189439">
                  <a:moveTo>
                    <a:pt x="0" y="0"/>
                  </a:moveTo>
                  <a:lnTo>
                    <a:pt x="22189439" y="0"/>
                  </a:lnTo>
                  <a:lnTo>
                    <a:pt x="22189439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8720" y="8585835"/>
            <a:ext cx="16093440" cy="1005840"/>
            <a:chOff x="0" y="0"/>
            <a:chExt cx="2145792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4579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457920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5EE0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Dasar regulasi: </a:t>
              </a:r>
              <a:r>
                <a:rPr lang="en-US" sz="18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UU 27/2022 tentang Pelindungan Data Pribadi  ·  Permenkes 16/2019 (pencegahan dan penanganan kecurangan JKN)  ·  Peraturan BPJS Kesehatan 6/2020 (sistem pencegahan kecurangan)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62025" y="522064"/>
            <a:ext cx="907423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53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RISIKO, PRIVASI &amp; ETIKA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EDECE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127760"/>
            <a:ext cx="16459200" cy="1005840"/>
            <a:chOff x="0" y="0"/>
            <a:chExt cx="21945600" cy="13411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B25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Skalabilitas: Dari Prototype ke Penggunaan Luas, Bertahap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4572000"/>
            <a:ext cx="5394960" cy="4480560"/>
            <a:chOff x="0" y="0"/>
            <a:chExt cx="7193280" cy="59740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93280" cy="5974080"/>
            </a:xfrm>
            <a:custGeom>
              <a:avLst/>
              <a:gdLst/>
              <a:ahLst/>
              <a:cxnLst/>
              <a:rect r="r" b="b" t="t" l="l"/>
              <a:pathLst>
                <a:path h="59740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5974080"/>
                  </a:lnTo>
                  <a:lnTo>
                    <a:pt x="0" y="597408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4572000"/>
            <a:ext cx="5394960" cy="1133856"/>
            <a:chOff x="0" y="0"/>
            <a:chExt cx="7193280" cy="15118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9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1B4F7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33856" y="4772406"/>
            <a:ext cx="274320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399">
                <a:solidFill>
                  <a:srgbClr val="5EE0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LEVEL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3856" y="5042535"/>
            <a:ext cx="493776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Prototype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84245" y="4714875"/>
            <a:ext cx="265176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 i="true">
                <a:solidFill>
                  <a:srgbClr val="C9D6E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Sekarang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33856" y="5905500"/>
            <a:ext cx="4974336" cy="296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Data simulasi</a:t>
            </a:r>
          </a:p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4 modus: repeat, cloning, inflated, upcoding</a:t>
            </a:r>
          </a:p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Skor + penjelasan + dashboard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28816" y="3657600"/>
            <a:ext cx="5394960" cy="5394960"/>
            <a:chOff x="0" y="0"/>
            <a:chExt cx="7193280" cy="7193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93280" cy="7193280"/>
            </a:xfrm>
            <a:custGeom>
              <a:avLst/>
              <a:gdLst/>
              <a:ahLst/>
              <a:cxnLst/>
              <a:rect r="r" b="b" t="t" l="l"/>
              <a:pathLst>
                <a:path h="71932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7193280"/>
                  </a:lnTo>
                  <a:lnTo>
                    <a:pt x="0" y="719328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528816" y="3657600"/>
            <a:ext cx="5394960" cy="1133856"/>
            <a:chOff x="0" y="0"/>
            <a:chExt cx="7193280" cy="15118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9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1E8A7A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748272" y="3702177"/>
            <a:ext cx="274320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399">
                <a:solidFill>
                  <a:srgbClr val="5EE0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LEVEL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48272" y="4029837"/>
            <a:ext cx="493776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Pilot terbatas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89136" y="3702177"/>
            <a:ext cx="265176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 i="true">
                <a:solidFill>
                  <a:srgbClr val="C9D6E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Setelah izin resmi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48272" y="4991100"/>
            <a:ext cx="4974336" cy="3878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Kerja sama dan izin tertulis</a:t>
            </a:r>
          </a:p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Data anonim, impor batch</a:t>
            </a:r>
          </a:p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Validasi oleh verifikator</a:t>
            </a:r>
          </a:p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Kalibrasi bobot dan ambang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143232" y="2743200"/>
            <a:ext cx="5394960" cy="6309360"/>
            <a:chOff x="0" y="0"/>
            <a:chExt cx="7193280" cy="8412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93280" cy="8412480"/>
            </a:xfrm>
            <a:custGeom>
              <a:avLst/>
              <a:gdLst/>
              <a:ahLst/>
              <a:cxnLst/>
              <a:rect r="r" b="b" t="t" l="l"/>
              <a:pathLst>
                <a:path h="841248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EEF4F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143232" y="2743200"/>
            <a:ext cx="5394960" cy="1133856"/>
            <a:chOff x="0" y="0"/>
            <a:chExt cx="7193280" cy="15118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9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B2545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362688" y="2787777"/>
            <a:ext cx="274320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399">
                <a:solidFill>
                  <a:srgbClr val="5EE0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LEVEL 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62688" y="3115437"/>
            <a:ext cx="493776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Operasional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703552" y="2787777"/>
            <a:ext cx="265176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 i="true">
                <a:solidFill>
                  <a:srgbClr val="C9D6E2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Jangka panjang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62688" y="4076700"/>
            <a:ext cx="4974336" cy="4792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Integrasi ke sistem klaim</a:t>
            </a:r>
          </a:p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Pemrosesan volume besar (konteks: 725,3 juta layanan/tahun)</a:t>
            </a:r>
          </a:p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Modus tambahan: phantom billing, prolonged stay</a:t>
            </a:r>
          </a:p>
          <a:p>
            <a:pPr algn="l" marL="482601" indent="-24130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Pelatihan ulang dan pemantauan drift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309360" y="7132320"/>
            <a:ext cx="365760" cy="548640"/>
            <a:chOff x="0" y="0"/>
            <a:chExt cx="48768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">
                  <a:moveTo>
                    <a:pt x="0" y="182880"/>
                  </a:moveTo>
                  <a:lnTo>
                    <a:pt x="243840" y="182880"/>
                  </a:lnTo>
                  <a:lnTo>
                    <a:pt x="243840" y="0"/>
                  </a:lnTo>
                  <a:lnTo>
                    <a:pt x="487680" y="365760"/>
                  </a:lnTo>
                  <a:lnTo>
                    <a:pt x="243840" y="731520"/>
                  </a:lnTo>
                  <a:lnTo>
                    <a:pt x="24384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13A89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887200" y="5943600"/>
            <a:ext cx="365760" cy="548640"/>
            <a:chOff x="0" y="0"/>
            <a:chExt cx="48768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7680" cy="731520"/>
            </a:xfrm>
            <a:custGeom>
              <a:avLst/>
              <a:gdLst/>
              <a:ahLst/>
              <a:cxnLst/>
              <a:rect r="r" b="b" t="t" l="l"/>
              <a:pathLst>
                <a:path h="731520" w="487680">
                  <a:moveTo>
                    <a:pt x="0" y="182880"/>
                  </a:moveTo>
                  <a:lnTo>
                    <a:pt x="243840" y="182880"/>
                  </a:lnTo>
                  <a:lnTo>
                    <a:pt x="243840" y="0"/>
                  </a:lnTo>
                  <a:lnTo>
                    <a:pt x="487680" y="365760"/>
                  </a:lnTo>
                  <a:lnTo>
                    <a:pt x="243840" y="731520"/>
                  </a:lnTo>
                  <a:lnTo>
                    <a:pt x="243840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13A89E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14400" y="9142476"/>
            <a:ext cx="1664208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true">
                <a:solidFill>
                  <a:srgbClr val="13A89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Syarat naik level: (1) hasil evaluasi dilaporkan jujur  (2) izin tertulis penyelenggara  (3) kepatuhan UU PDP  (4) validasi oleh pihak berwenang.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2975" y="522064"/>
            <a:ext cx="907423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b="true" sz="2200" spc="530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SKALABILITAS &amp; JALUR IMPLEMENTASI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5812" y="-140797"/>
            <a:ext cx="18579625" cy="10449767"/>
            <a:chOff x="0" y="0"/>
            <a:chExt cx="24772833" cy="139330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72834" cy="13933022"/>
            </a:xfrm>
            <a:custGeom>
              <a:avLst/>
              <a:gdLst/>
              <a:ahLst/>
              <a:cxnLst/>
              <a:rect r="r" b="b" t="t" l="l"/>
              <a:pathLst>
                <a:path h="13933022" w="24772834">
                  <a:moveTo>
                    <a:pt x="24772834" y="13933022"/>
                  </a:moveTo>
                  <a:lnTo>
                    <a:pt x="0" y="13933022"/>
                  </a:lnTo>
                  <a:lnTo>
                    <a:pt x="0" y="0"/>
                  </a:lnTo>
                  <a:lnTo>
                    <a:pt x="24772834" y="0"/>
                  </a:lnTo>
                  <a:lnTo>
                    <a:pt x="24772834" y="13933022"/>
                  </a:lnTo>
                  <a:close/>
                </a:path>
              </a:pathLst>
            </a:custGeom>
            <a:solidFill>
              <a:srgbClr val="EDECEC"/>
            </a:solid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409774" y="1483001"/>
          <a:ext cx="17341509" cy="6743290"/>
        </p:xfrm>
        <a:graphic>
          <a:graphicData uri="http://schemas.openxmlformats.org/drawingml/2006/table">
            <a:tbl>
              <a:tblPr/>
              <a:tblGrid>
                <a:gridCol w="2594237"/>
                <a:gridCol w="4396635"/>
                <a:gridCol w="1041065"/>
                <a:gridCol w="1101078"/>
                <a:gridCol w="1061069"/>
                <a:gridCol w="1061069"/>
                <a:gridCol w="1061069"/>
                <a:gridCol w="1041065"/>
                <a:gridCol w="1041065"/>
                <a:gridCol w="981052"/>
                <a:gridCol w="981052"/>
                <a:gridCol w="981052"/>
              </a:tblGrid>
              <a:tr h="56560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9"/>
                        </a:lnSpc>
                        <a:defRPr/>
                      </a:pPr>
                      <a:r>
                        <a:rPr lang="en-US" sz="176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Tahap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19"/>
                        </a:lnSpc>
                        <a:defRPr/>
                      </a:pPr>
                      <a:r>
                        <a:rPr lang="en-US" sz="176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Deliverable terukur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3"/>
                        </a:lnSpc>
                        <a:defRPr/>
                      </a:pPr>
                      <a:r>
                        <a:rPr lang="en-US" b="true" sz="1766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M2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3"/>
                        </a:lnSpc>
                        <a:defRPr/>
                      </a:pPr>
                      <a:r>
                        <a:rPr lang="en-US" b="true" sz="1766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M8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3"/>
                        </a:lnSpc>
                        <a:defRPr/>
                      </a:pPr>
                      <a:r>
                        <a:rPr lang="en-US" b="true" sz="1766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M3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3"/>
                        </a:lnSpc>
                        <a:defRPr/>
                      </a:pPr>
                      <a:r>
                        <a:rPr lang="en-US" b="true" sz="1766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M7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3"/>
                        </a:lnSpc>
                        <a:defRPr/>
                      </a:pPr>
                      <a:r>
                        <a:rPr lang="en-US" b="true" sz="1766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M6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2"/>
                        </a:lnSpc>
                        <a:defRPr/>
                      </a:pPr>
                      <a:r>
                        <a:rPr lang="en-US" b="true" sz="1766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M5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3"/>
                        </a:lnSpc>
                        <a:defRPr/>
                      </a:pPr>
                      <a:r>
                        <a:rPr lang="en-US" sz="1766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M1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3"/>
                        </a:lnSpc>
                        <a:defRPr/>
                      </a:pPr>
                      <a:r>
                        <a:rPr lang="en-US" b="true" sz="1766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M9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3"/>
                        </a:lnSpc>
                        <a:defRPr/>
                      </a:pPr>
                      <a:r>
                        <a:rPr lang="en-US" sz="1766" b="true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M4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73"/>
                        </a:lnSpc>
                        <a:defRPr/>
                      </a:pPr>
                      <a:r>
                        <a:rPr lang="en-US" b="true" sz="1766">
                          <a:solidFill>
                            <a:srgbClr val="FFFFFF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M10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7815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19"/>
                        </a:lnSpc>
                        <a:defRPr/>
                      </a:pPr>
                      <a:r>
                        <a:rPr lang="en-US" sz="1766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Data Preparation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07"/>
                        </a:lnSpc>
                        <a:defRPr/>
                      </a:pPr>
                      <a:r>
                        <a:rPr lang="en-US" sz="158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10.000 klaim simulasi dengan anomali tertanam (4 modus)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84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19"/>
                        </a:lnSpc>
                        <a:defRPr/>
                      </a:pPr>
                      <a:r>
                        <a:rPr lang="en-US" sz="1766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Explorat</a:t>
                      </a:r>
                      <a:r>
                        <a:rPr lang="en-US" sz="1766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ory Analysis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07"/>
                        </a:lnSpc>
                        <a:defRPr/>
                      </a:pPr>
                      <a:r>
                        <a:rPr lang="en-US" sz="158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Ringkasan distribusi nilai dan frekuensi klaim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06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19"/>
                        </a:lnSpc>
                        <a:defRPr/>
                      </a:pPr>
                      <a:r>
                        <a:rPr lang="en-US" sz="1766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Fe</a:t>
                      </a:r>
                      <a:r>
                        <a:rPr lang="en-US" sz="1766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ature Engineering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07"/>
                        </a:lnSpc>
                        <a:defRPr/>
                      </a:pPr>
                      <a:r>
                        <a:rPr lang="en-US" sz="158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 indikator risiko terhitung untuk setiap klaim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15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19"/>
                        </a:lnSpc>
                        <a:defRPr/>
                      </a:pPr>
                      <a:r>
                        <a:rPr lang="en-US" sz="1766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Det</a:t>
                      </a:r>
                      <a:r>
                        <a:rPr lang="en-US" sz="1766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ection Engine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07"/>
                        </a:lnSpc>
                        <a:defRPr/>
                      </a:pPr>
                      <a:r>
                        <a:rPr lang="en-US" sz="158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Aturan + anomaly detection menandai klaim tidak wajar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0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19"/>
                        </a:lnSpc>
                        <a:defRPr/>
                      </a:pPr>
                      <a:r>
                        <a:rPr lang="en-US" sz="1766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</a:t>
                      </a:r>
                      <a:r>
                        <a:rPr lang="en-US" sz="1766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isk Scoring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25"/>
                        </a:lnSpc>
                        <a:defRPr/>
                      </a:pPr>
                      <a:r>
                        <a:rPr lang="en-US" sz="158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Skor 0-100 dan 4 kategori untuk seluruh klaim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0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73"/>
                        </a:lnSpc>
                        <a:defRPr/>
                      </a:pPr>
                      <a:r>
                        <a:rPr lang="en-US" sz="1766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Explainability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25"/>
                        </a:lnSpc>
                        <a:defRPr/>
                      </a:pPr>
                      <a:r>
                        <a:rPr lang="en-US" sz="158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Minimal 1 faktor risiko pada tiap klaim High/Critical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092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19"/>
                        </a:lnSpc>
                        <a:defRPr/>
                      </a:pPr>
                      <a:r>
                        <a:rPr lang="en-US" sz="1766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</a:t>
                      </a:r>
                      <a:r>
                        <a:rPr lang="en-US" sz="1766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ashboard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25"/>
                        </a:lnSpc>
                        <a:defRPr/>
                      </a:pPr>
                      <a:r>
                        <a:rPr lang="en-US" sz="158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Distribusi risiko, daftar prioritas, claim comparison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69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119"/>
                        </a:lnSpc>
                        <a:defRPr/>
                      </a:pPr>
                      <a:r>
                        <a:rPr lang="en-US" sz="1766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Evaluation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225"/>
                        </a:lnSpc>
                        <a:defRPr/>
                      </a:pPr>
                      <a:r>
                        <a:rPr lang="en-US" sz="158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Laporan precision, FPR, konsistensi skor, uji waktu temuan</a:t>
                      </a: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43"/>
                        </a:lnSpc>
                        <a:defRPr/>
                      </a:pPr>
                      <a:endParaRPr lang="en-US" sz="1100"/>
                    </a:p>
                  </a:txBody>
                  <a:tcPr marL="80761" marR="80761" marT="80761" marB="80761" anchor="ctr">
                    <a:lnL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5608">
                      <a:solidFill>
                        <a:srgbClr val="C9D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5" id="5"/>
          <p:cNvGrpSpPr/>
          <p:nvPr/>
        </p:nvGrpSpPr>
        <p:grpSpPr>
          <a:xfrm rot="0">
            <a:off x="7521278" y="2227439"/>
            <a:ext cx="840666" cy="402948"/>
            <a:chOff x="0" y="0"/>
            <a:chExt cx="914585" cy="4383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4585" cy="438379"/>
            </a:xfrm>
            <a:custGeom>
              <a:avLst/>
              <a:gdLst/>
              <a:ahLst/>
              <a:cxnLst/>
              <a:rect r="r" b="b" t="t" l="l"/>
              <a:pathLst>
                <a:path h="438379" w="914585">
                  <a:moveTo>
                    <a:pt x="711385" y="0"/>
                  </a:moveTo>
                  <a:cubicBezTo>
                    <a:pt x="823609" y="0"/>
                    <a:pt x="914585" y="98134"/>
                    <a:pt x="914585" y="219189"/>
                  </a:cubicBezTo>
                  <a:cubicBezTo>
                    <a:pt x="914585" y="340244"/>
                    <a:pt x="823609" y="438379"/>
                    <a:pt x="711385" y="438379"/>
                  </a:cubicBezTo>
                  <a:lnTo>
                    <a:pt x="203200" y="438379"/>
                  </a:lnTo>
                  <a:cubicBezTo>
                    <a:pt x="90976" y="438379"/>
                    <a:pt x="0" y="340244"/>
                    <a:pt x="0" y="219189"/>
                  </a:cubicBezTo>
                  <a:cubicBezTo>
                    <a:pt x="0" y="981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37A5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14585" cy="476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TextBox 8" id="8" descr="$PPTXTitle"/>
          <p:cNvSpPr txBox="true"/>
          <p:nvPr/>
        </p:nvSpPr>
        <p:spPr>
          <a:xfrm rot="0">
            <a:off x="400877" y="743524"/>
            <a:ext cx="11719917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b="true" sz="3999" spc="59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Delapan tahap, tiap tahap punya hasil yang bisa dicek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8349" y="386286"/>
            <a:ext cx="291596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27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RENCANA KELAYAKAN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562212" y="2947269"/>
            <a:ext cx="840666" cy="402948"/>
            <a:chOff x="0" y="0"/>
            <a:chExt cx="914585" cy="4383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585" cy="438379"/>
            </a:xfrm>
            <a:custGeom>
              <a:avLst/>
              <a:gdLst/>
              <a:ahLst/>
              <a:cxnLst/>
              <a:rect r="r" b="b" t="t" l="l"/>
              <a:pathLst>
                <a:path h="438379" w="914585">
                  <a:moveTo>
                    <a:pt x="711385" y="0"/>
                  </a:moveTo>
                  <a:cubicBezTo>
                    <a:pt x="823609" y="0"/>
                    <a:pt x="914585" y="98134"/>
                    <a:pt x="914585" y="219189"/>
                  </a:cubicBezTo>
                  <a:cubicBezTo>
                    <a:pt x="914585" y="340244"/>
                    <a:pt x="823609" y="438379"/>
                    <a:pt x="711385" y="438379"/>
                  </a:cubicBezTo>
                  <a:lnTo>
                    <a:pt x="203200" y="438379"/>
                  </a:lnTo>
                  <a:cubicBezTo>
                    <a:pt x="90976" y="438379"/>
                    <a:pt x="0" y="340244"/>
                    <a:pt x="0" y="219189"/>
                  </a:cubicBezTo>
                  <a:cubicBezTo>
                    <a:pt x="0" y="981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37A5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585" cy="476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41819" y="3602221"/>
            <a:ext cx="840666" cy="402948"/>
            <a:chOff x="0" y="0"/>
            <a:chExt cx="914585" cy="43837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585" cy="438379"/>
            </a:xfrm>
            <a:custGeom>
              <a:avLst/>
              <a:gdLst/>
              <a:ahLst/>
              <a:cxnLst/>
              <a:rect r="r" b="b" t="t" l="l"/>
              <a:pathLst>
                <a:path h="438379" w="914585">
                  <a:moveTo>
                    <a:pt x="711385" y="0"/>
                  </a:moveTo>
                  <a:cubicBezTo>
                    <a:pt x="823609" y="0"/>
                    <a:pt x="914585" y="98134"/>
                    <a:pt x="914585" y="219189"/>
                  </a:cubicBezTo>
                  <a:cubicBezTo>
                    <a:pt x="914585" y="340244"/>
                    <a:pt x="823609" y="438379"/>
                    <a:pt x="711385" y="438379"/>
                  </a:cubicBezTo>
                  <a:lnTo>
                    <a:pt x="203200" y="438379"/>
                  </a:lnTo>
                  <a:cubicBezTo>
                    <a:pt x="90976" y="438379"/>
                    <a:pt x="0" y="340244"/>
                    <a:pt x="0" y="219189"/>
                  </a:cubicBezTo>
                  <a:cubicBezTo>
                    <a:pt x="0" y="981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37A5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14585" cy="476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692421" y="4376126"/>
            <a:ext cx="1933175" cy="402948"/>
            <a:chOff x="0" y="0"/>
            <a:chExt cx="2103156" cy="4383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03156" cy="438379"/>
            </a:xfrm>
            <a:custGeom>
              <a:avLst/>
              <a:gdLst/>
              <a:ahLst/>
              <a:cxnLst/>
              <a:rect r="r" b="b" t="t" l="l"/>
              <a:pathLst>
                <a:path h="438379" w="2103156">
                  <a:moveTo>
                    <a:pt x="1899956" y="0"/>
                  </a:moveTo>
                  <a:cubicBezTo>
                    <a:pt x="2012180" y="0"/>
                    <a:pt x="2103156" y="98134"/>
                    <a:pt x="2103156" y="219189"/>
                  </a:cubicBezTo>
                  <a:cubicBezTo>
                    <a:pt x="2103156" y="340244"/>
                    <a:pt x="2012180" y="438379"/>
                    <a:pt x="1899956" y="438379"/>
                  </a:cubicBezTo>
                  <a:lnTo>
                    <a:pt x="203200" y="438379"/>
                  </a:lnTo>
                  <a:cubicBezTo>
                    <a:pt x="90976" y="438379"/>
                    <a:pt x="0" y="340244"/>
                    <a:pt x="0" y="219189"/>
                  </a:cubicBezTo>
                  <a:cubicBezTo>
                    <a:pt x="0" y="981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37A5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03156" cy="476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828895" y="5165470"/>
            <a:ext cx="840666" cy="402948"/>
            <a:chOff x="0" y="0"/>
            <a:chExt cx="914585" cy="4383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585" cy="438379"/>
            </a:xfrm>
            <a:custGeom>
              <a:avLst/>
              <a:gdLst/>
              <a:ahLst/>
              <a:cxnLst/>
              <a:rect r="r" b="b" t="t" l="l"/>
              <a:pathLst>
                <a:path h="438379" w="914585">
                  <a:moveTo>
                    <a:pt x="711385" y="0"/>
                  </a:moveTo>
                  <a:cubicBezTo>
                    <a:pt x="823609" y="0"/>
                    <a:pt x="914585" y="98134"/>
                    <a:pt x="914585" y="219189"/>
                  </a:cubicBezTo>
                  <a:cubicBezTo>
                    <a:pt x="914585" y="340244"/>
                    <a:pt x="823609" y="438379"/>
                    <a:pt x="711385" y="438379"/>
                  </a:cubicBezTo>
                  <a:lnTo>
                    <a:pt x="203200" y="438379"/>
                  </a:lnTo>
                  <a:cubicBezTo>
                    <a:pt x="90976" y="438379"/>
                    <a:pt x="0" y="340244"/>
                    <a:pt x="0" y="219189"/>
                  </a:cubicBezTo>
                  <a:cubicBezTo>
                    <a:pt x="0" y="981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A606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14585" cy="476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859756" y="5996133"/>
            <a:ext cx="840666" cy="402948"/>
            <a:chOff x="0" y="0"/>
            <a:chExt cx="914585" cy="4383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585" cy="438379"/>
            </a:xfrm>
            <a:custGeom>
              <a:avLst/>
              <a:gdLst/>
              <a:ahLst/>
              <a:cxnLst/>
              <a:rect r="r" b="b" t="t" l="l"/>
              <a:pathLst>
                <a:path h="438379" w="914585">
                  <a:moveTo>
                    <a:pt x="711385" y="0"/>
                  </a:moveTo>
                  <a:cubicBezTo>
                    <a:pt x="823609" y="0"/>
                    <a:pt x="914585" y="98134"/>
                    <a:pt x="914585" y="219189"/>
                  </a:cubicBezTo>
                  <a:cubicBezTo>
                    <a:pt x="914585" y="340244"/>
                    <a:pt x="823609" y="438379"/>
                    <a:pt x="711385" y="438379"/>
                  </a:cubicBezTo>
                  <a:lnTo>
                    <a:pt x="203200" y="438379"/>
                  </a:lnTo>
                  <a:cubicBezTo>
                    <a:pt x="90976" y="438379"/>
                    <a:pt x="0" y="340244"/>
                    <a:pt x="0" y="219189"/>
                  </a:cubicBezTo>
                  <a:cubicBezTo>
                    <a:pt x="0" y="981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A606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14585" cy="476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856593" y="6810599"/>
            <a:ext cx="1855829" cy="402948"/>
            <a:chOff x="0" y="0"/>
            <a:chExt cx="2019009" cy="43837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9009" cy="438379"/>
            </a:xfrm>
            <a:custGeom>
              <a:avLst/>
              <a:gdLst/>
              <a:ahLst/>
              <a:cxnLst/>
              <a:rect r="r" b="b" t="t" l="l"/>
              <a:pathLst>
                <a:path h="438379" w="2019009">
                  <a:moveTo>
                    <a:pt x="1815809" y="0"/>
                  </a:moveTo>
                  <a:cubicBezTo>
                    <a:pt x="1928034" y="0"/>
                    <a:pt x="2019009" y="98134"/>
                    <a:pt x="2019009" y="219189"/>
                  </a:cubicBezTo>
                  <a:cubicBezTo>
                    <a:pt x="2019009" y="340244"/>
                    <a:pt x="1928034" y="438379"/>
                    <a:pt x="1815809" y="438379"/>
                  </a:cubicBezTo>
                  <a:lnTo>
                    <a:pt x="203200" y="438379"/>
                  </a:lnTo>
                  <a:cubicBezTo>
                    <a:pt x="90976" y="438379"/>
                    <a:pt x="0" y="340244"/>
                    <a:pt x="0" y="219189"/>
                  </a:cubicBezTo>
                  <a:cubicBezTo>
                    <a:pt x="0" y="981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A606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019009" cy="476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834931" y="7632947"/>
            <a:ext cx="840666" cy="402948"/>
            <a:chOff x="0" y="0"/>
            <a:chExt cx="914585" cy="4383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585" cy="438379"/>
            </a:xfrm>
            <a:custGeom>
              <a:avLst/>
              <a:gdLst/>
              <a:ahLst/>
              <a:cxnLst/>
              <a:rect r="r" b="b" t="t" l="l"/>
              <a:pathLst>
                <a:path h="438379" w="914585">
                  <a:moveTo>
                    <a:pt x="711385" y="0"/>
                  </a:moveTo>
                  <a:cubicBezTo>
                    <a:pt x="823609" y="0"/>
                    <a:pt x="914585" y="98134"/>
                    <a:pt x="914585" y="219189"/>
                  </a:cubicBezTo>
                  <a:cubicBezTo>
                    <a:pt x="914585" y="340244"/>
                    <a:pt x="823609" y="438379"/>
                    <a:pt x="711385" y="438379"/>
                  </a:cubicBezTo>
                  <a:lnTo>
                    <a:pt x="203200" y="438379"/>
                  </a:lnTo>
                  <a:cubicBezTo>
                    <a:pt x="90976" y="438379"/>
                    <a:pt x="0" y="340244"/>
                    <a:pt x="0" y="219189"/>
                  </a:cubicBezTo>
                  <a:cubicBezTo>
                    <a:pt x="0" y="981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A606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14585" cy="476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38349" y="8331066"/>
            <a:ext cx="3399583" cy="1854467"/>
            <a:chOff x="0" y="0"/>
            <a:chExt cx="651539" cy="35541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1539" cy="355413"/>
            </a:xfrm>
            <a:custGeom>
              <a:avLst/>
              <a:gdLst/>
              <a:ahLst/>
              <a:cxnLst/>
              <a:rect r="r" b="b" t="t" l="l"/>
              <a:pathLst>
                <a:path h="355413" w="651539">
                  <a:moveTo>
                    <a:pt x="52378" y="0"/>
                  </a:moveTo>
                  <a:lnTo>
                    <a:pt x="599160" y="0"/>
                  </a:lnTo>
                  <a:cubicBezTo>
                    <a:pt x="628088" y="0"/>
                    <a:pt x="651539" y="23451"/>
                    <a:pt x="651539" y="52378"/>
                  </a:cubicBezTo>
                  <a:lnTo>
                    <a:pt x="651539" y="303035"/>
                  </a:lnTo>
                  <a:cubicBezTo>
                    <a:pt x="651539" y="331963"/>
                    <a:pt x="628088" y="355413"/>
                    <a:pt x="599160" y="355413"/>
                  </a:cubicBezTo>
                  <a:lnTo>
                    <a:pt x="52378" y="355413"/>
                  </a:lnTo>
                  <a:cubicBezTo>
                    <a:pt x="23451" y="355413"/>
                    <a:pt x="0" y="331963"/>
                    <a:pt x="0" y="303035"/>
                  </a:cubicBezTo>
                  <a:lnTo>
                    <a:pt x="0" y="52378"/>
                  </a:lnTo>
                  <a:cubicBezTo>
                    <a:pt x="0" y="23451"/>
                    <a:pt x="23451" y="0"/>
                    <a:pt x="52378" y="0"/>
                  </a:cubicBezTo>
                  <a:close/>
                </a:path>
              </a:pathLst>
            </a:custGeom>
            <a:solidFill>
              <a:srgbClr val="C6DED1"/>
            </a:solidFill>
            <a:ln cap="rnd">
              <a:noFill/>
              <a:prstDash val="solid"/>
              <a:round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668027" y="8489403"/>
            <a:ext cx="49339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4923" y="8918028"/>
            <a:ext cx="294453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1-3 anggota ID Del: data/ML, dimain JKN, dashboard dan desain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5162630" y="8331066"/>
            <a:ext cx="3399583" cy="1854467"/>
            <a:chOff x="0" y="0"/>
            <a:chExt cx="651539" cy="35541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1539" cy="355413"/>
            </a:xfrm>
            <a:custGeom>
              <a:avLst/>
              <a:gdLst/>
              <a:ahLst/>
              <a:cxnLst/>
              <a:rect r="r" b="b" t="t" l="l"/>
              <a:pathLst>
                <a:path h="355413" w="651539">
                  <a:moveTo>
                    <a:pt x="52378" y="0"/>
                  </a:moveTo>
                  <a:lnTo>
                    <a:pt x="599160" y="0"/>
                  </a:lnTo>
                  <a:cubicBezTo>
                    <a:pt x="628088" y="0"/>
                    <a:pt x="651539" y="23451"/>
                    <a:pt x="651539" y="52378"/>
                  </a:cubicBezTo>
                  <a:lnTo>
                    <a:pt x="651539" y="303035"/>
                  </a:lnTo>
                  <a:cubicBezTo>
                    <a:pt x="651539" y="331963"/>
                    <a:pt x="628088" y="355413"/>
                    <a:pt x="599160" y="355413"/>
                  </a:cubicBezTo>
                  <a:lnTo>
                    <a:pt x="52378" y="355413"/>
                  </a:lnTo>
                  <a:cubicBezTo>
                    <a:pt x="23451" y="355413"/>
                    <a:pt x="0" y="331963"/>
                    <a:pt x="0" y="303035"/>
                  </a:cubicBezTo>
                  <a:lnTo>
                    <a:pt x="0" y="52378"/>
                  </a:lnTo>
                  <a:cubicBezTo>
                    <a:pt x="0" y="23451"/>
                    <a:pt x="23451" y="0"/>
                    <a:pt x="52378" y="0"/>
                  </a:cubicBezTo>
                  <a:close/>
                </a:path>
              </a:pathLst>
            </a:custGeom>
            <a:solidFill>
              <a:srgbClr val="C6DED1"/>
            </a:solidFill>
            <a:ln cap="rnd">
              <a:noFill/>
              <a:prstDash val="solid"/>
              <a:round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5409204" y="8489403"/>
            <a:ext cx="126003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Teknologi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409204" y="8918028"/>
            <a:ext cx="294453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Python, pustaka ML open-source, dashboard web. Tanpa biaya lisensi.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757165" y="8331066"/>
            <a:ext cx="3399583" cy="1854467"/>
            <a:chOff x="0" y="0"/>
            <a:chExt cx="651539" cy="35541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51539" cy="355413"/>
            </a:xfrm>
            <a:custGeom>
              <a:avLst/>
              <a:gdLst/>
              <a:ahLst/>
              <a:cxnLst/>
              <a:rect r="r" b="b" t="t" l="l"/>
              <a:pathLst>
                <a:path h="355413" w="651539">
                  <a:moveTo>
                    <a:pt x="52378" y="0"/>
                  </a:moveTo>
                  <a:lnTo>
                    <a:pt x="599160" y="0"/>
                  </a:lnTo>
                  <a:cubicBezTo>
                    <a:pt x="628088" y="0"/>
                    <a:pt x="651539" y="23451"/>
                    <a:pt x="651539" y="52378"/>
                  </a:cubicBezTo>
                  <a:lnTo>
                    <a:pt x="651539" y="303035"/>
                  </a:lnTo>
                  <a:cubicBezTo>
                    <a:pt x="651539" y="331963"/>
                    <a:pt x="628088" y="355413"/>
                    <a:pt x="599160" y="355413"/>
                  </a:cubicBezTo>
                  <a:lnTo>
                    <a:pt x="52378" y="355413"/>
                  </a:lnTo>
                  <a:cubicBezTo>
                    <a:pt x="23451" y="355413"/>
                    <a:pt x="0" y="331963"/>
                    <a:pt x="0" y="303035"/>
                  </a:cubicBezTo>
                  <a:lnTo>
                    <a:pt x="0" y="52378"/>
                  </a:lnTo>
                  <a:cubicBezTo>
                    <a:pt x="0" y="23451"/>
                    <a:pt x="23451" y="0"/>
                    <a:pt x="52378" y="0"/>
                  </a:cubicBezTo>
                  <a:close/>
                </a:path>
              </a:pathLst>
            </a:custGeom>
            <a:solidFill>
              <a:srgbClr val="C6DED1"/>
            </a:solidFill>
            <a:ln cap="rnd">
              <a:noFill/>
              <a:prstDash val="solid"/>
              <a:round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0034467" y="8489403"/>
            <a:ext cx="617577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003739" y="8918028"/>
            <a:ext cx="294453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Data simulasi buatan sendiri. Tanpa data pesarta JKN rill.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4351701" y="8331066"/>
            <a:ext cx="3399583" cy="1854467"/>
            <a:chOff x="0" y="0"/>
            <a:chExt cx="651539" cy="35541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1539" cy="355413"/>
            </a:xfrm>
            <a:custGeom>
              <a:avLst/>
              <a:gdLst/>
              <a:ahLst/>
              <a:cxnLst/>
              <a:rect r="r" b="b" t="t" l="l"/>
              <a:pathLst>
                <a:path h="355413" w="651539">
                  <a:moveTo>
                    <a:pt x="52378" y="0"/>
                  </a:moveTo>
                  <a:lnTo>
                    <a:pt x="599160" y="0"/>
                  </a:lnTo>
                  <a:cubicBezTo>
                    <a:pt x="628088" y="0"/>
                    <a:pt x="651539" y="23451"/>
                    <a:pt x="651539" y="52378"/>
                  </a:cubicBezTo>
                  <a:lnTo>
                    <a:pt x="651539" y="303035"/>
                  </a:lnTo>
                  <a:cubicBezTo>
                    <a:pt x="651539" y="331963"/>
                    <a:pt x="628088" y="355413"/>
                    <a:pt x="599160" y="355413"/>
                  </a:cubicBezTo>
                  <a:lnTo>
                    <a:pt x="52378" y="355413"/>
                  </a:lnTo>
                  <a:cubicBezTo>
                    <a:pt x="23451" y="355413"/>
                    <a:pt x="0" y="331963"/>
                    <a:pt x="0" y="303035"/>
                  </a:cubicBezTo>
                  <a:lnTo>
                    <a:pt x="0" y="52378"/>
                  </a:lnTo>
                  <a:cubicBezTo>
                    <a:pt x="0" y="23451"/>
                    <a:pt x="23451" y="0"/>
                    <a:pt x="52378" y="0"/>
                  </a:cubicBezTo>
                  <a:close/>
                </a:path>
              </a:pathLst>
            </a:custGeom>
            <a:solidFill>
              <a:srgbClr val="C6DED1"/>
            </a:solidFill>
            <a:ln cap="rnd">
              <a:noFill/>
              <a:prstDash val="solid"/>
              <a:round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14598274" y="8489403"/>
            <a:ext cx="124027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Jika Lolos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598274" y="8918028"/>
            <a:ext cx="2944535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Validasi dengan anomin atas izin resmi, pilot terbatas, tambah modus.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231" y="0"/>
            <a:ext cx="18590281" cy="10287000"/>
            <a:chOff x="0" y="0"/>
            <a:chExt cx="24787041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78704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787042">
                  <a:moveTo>
                    <a:pt x="24787042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787042" y="0"/>
                  </a:lnTo>
                  <a:lnTo>
                    <a:pt x="24787042" y="13716000"/>
                  </a:lnTo>
                  <a:close/>
                </a:path>
              </a:pathLst>
            </a:custGeom>
            <a:solidFill>
              <a:srgbClr val="EDECE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68629" y="3153344"/>
            <a:ext cx="5292875" cy="5885099"/>
            <a:chOff x="0" y="0"/>
            <a:chExt cx="820005" cy="9117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0005" cy="911756"/>
            </a:xfrm>
            <a:custGeom>
              <a:avLst/>
              <a:gdLst/>
              <a:ahLst/>
              <a:cxnLst/>
              <a:rect r="r" b="b" t="t" l="l"/>
              <a:pathLst>
                <a:path h="911756" w="820005">
                  <a:moveTo>
                    <a:pt x="33642" y="0"/>
                  </a:moveTo>
                  <a:lnTo>
                    <a:pt x="786363" y="0"/>
                  </a:lnTo>
                  <a:cubicBezTo>
                    <a:pt x="804943" y="0"/>
                    <a:pt x="820005" y="15062"/>
                    <a:pt x="820005" y="33642"/>
                  </a:cubicBezTo>
                  <a:lnTo>
                    <a:pt x="820005" y="878114"/>
                  </a:lnTo>
                  <a:cubicBezTo>
                    <a:pt x="820005" y="896694"/>
                    <a:pt x="804943" y="911756"/>
                    <a:pt x="786363" y="911756"/>
                  </a:cubicBezTo>
                  <a:lnTo>
                    <a:pt x="33642" y="911756"/>
                  </a:lnTo>
                  <a:cubicBezTo>
                    <a:pt x="15062" y="911756"/>
                    <a:pt x="0" y="896694"/>
                    <a:pt x="0" y="878114"/>
                  </a:cubicBezTo>
                  <a:lnTo>
                    <a:pt x="0" y="33642"/>
                  </a:lnTo>
                  <a:cubicBezTo>
                    <a:pt x="0" y="15062"/>
                    <a:pt x="15062" y="0"/>
                    <a:pt x="3364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84222" y="3499997"/>
            <a:ext cx="1049315" cy="104931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E2D5"/>
            </a:solidFill>
          </p:spPr>
        </p:sp>
      </p:grpSp>
      <p:sp>
        <p:nvSpPr>
          <p:cNvPr name="TextBox 8" id="8" descr="$PPTXTitle"/>
          <p:cNvSpPr txBox="true"/>
          <p:nvPr/>
        </p:nvSpPr>
        <p:spPr>
          <a:xfrm rot="0">
            <a:off x="578154" y="1505255"/>
            <a:ext cx="7636193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0"/>
              </a:lnSpc>
            </a:pPr>
            <a:r>
              <a:rPr lang="en-US" b="true" sz="4350" spc="667">
                <a:solidFill>
                  <a:srgbClr val="03030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Profil &amp; Pengalaman Tim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8629" y="990600"/>
            <a:ext cx="3846909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spc="27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PROFIL &amp; PENGALAMAN TIM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72970" y="3615080"/>
            <a:ext cx="321444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3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Chantique A.S Nababan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72970" y="4081805"/>
            <a:ext cx="2774752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spc="37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Peran: dashboard &amp; </a:t>
            </a:r>
          </a:p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b="true" sz="2499" spc="37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desain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2797" y="5148605"/>
            <a:ext cx="117586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37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Keahlian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22322" y="7030574"/>
            <a:ext cx="166342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37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Pengalaman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97563" y="3153344"/>
            <a:ext cx="5292875" cy="5885099"/>
            <a:chOff x="0" y="0"/>
            <a:chExt cx="820005" cy="9117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0005" cy="911756"/>
            </a:xfrm>
            <a:custGeom>
              <a:avLst/>
              <a:gdLst/>
              <a:ahLst/>
              <a:cxnLst/>
              <a:rect r="r" b="b" t="t" l="l"/>
              <a:pathLst>
                <a:path h="911756" w="820005">
                  <a:moveTo>
                    <a:pt x="33642" y="0"/>
                  </a:moveTo>
                  <a:lnTo>
                    <a:pt x="786363" y="0"/>
                  </a:lnTo>
                  <a:cubicBezTo>
                    <a:pt x="804943" y="0"/>
                    <a:pt x="820005" y="15062"/>
                    <a:pt x="820005" y="33642"/>
                  </a:cubicBezTo>
                  <a:lnTo>
                    <a:pt x="820005" y="878114"/>
                  </a:lnTo>
                  <a:cubicBezTo>
                    <a:pt x="820005" y="896694"/>
                    <a:pt x="804943" y="911756"/>
                    <a:pt x="786363" y="911756"/>
                  </a:cubicBezTo>
                  <a:lnTo>
                    <a:pt x="33642" y="911756"/>
                  </a:lnTo>
                  <a:cubicBezTo>
                    <a:pt x="15062" y="911756"/>
                    <a:pt x="0" y="896694"/>
                    <a:pt x="0" y="878114"/>
                  </a:cubicBezTo>
                  <a:lnTo>
                    <a:pt x="0" y="33642"/>
                  </a:lnTo>
                  <a:cubicBezTo>
                    <a:pt x="0" y="15062"/>
                    <a:pt x="15062" y="0"/>
                    <a:pt x="3364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813156" y="3499997"/>
            <a:ext cx="1049315" cy="104931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E2D5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027118" y="3615080"/>
            <a:ext cx="227421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3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Nicky Manullang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27118" y="4081805"/>
            <a:ext cx="2271593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37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Peran: data / ML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51256" y="5025562"/>
            <a:ext cx="117586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37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Keahlian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70306" y="6940087"/>
            <a:ext cx="166342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37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Pengalaman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426497" y="3153344"/>
            <a:ext cx="5292875" cy="5885099"/>
            <a:chOff x="0" y="0"/>
            <a:chExt cx="820005" cy="9117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20005" cy="911756"/>
            </a:xfrm>
            <a:custGeom>
              <a:avLst/>
              <a:gdLst/>
              <a:ahLst/>
              <a:cxnLst/>
              <a:rect r="r" b="b" t="t" l="l"/>
              <a:pathLst>
                <a:path h="911756" w="820005">
                  <a:moveTo>
                    <a:pt x="33642" y="0"/>
                  </a:moveTo>
                  <a:lnTo>
                    <a:pt x="786363" y="0"/>
                  </a:lnTo>
                  <a:cubicBezTo>
                    <a:pt x="804943" y="0"/>
                    <a:pt x="820005" y="15062"/>
                    <a:pt x="820005" y="33642"/>
                  </a:cubicBezTo>
                  <a:lnTo>
                    <a:pt x="820005" y="878114"/>
                  </a:lnTo>
                  <a:cubicBezTo>
                    <a:pt x="820005" y="896694"/>
                    <a:pt x="804943" y="911756"/>
                    <a:pt x="786363" y="911756"/>
                  </a:cubicBezTo>
                  <a:lnTo>
                    <a:pt x="33642" y="911756"/>
                  </a:lnTo>
                  <a:cubicBezTo>
                    <a:pt x="15062" y="911756"/>
                    <a:pt x="0" y="896694"/>
                    <a:pt x="0" y="878114"/>
                  </a:cubicBezTo>
                  <a:lnTo>
                    <a:pt x="0" y="33642"/>
                  </a:lnTo>
                  <a:cubicBezTo>
                    <a:pt x="0" y="15062"/>
                    <a:pt x="15062" y="0"/>
                    <a:pt x="3364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742090" y="3499997"/>
            <a:ext cx="1049315" cy="104931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AE2D5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934280" y="3605555"/>
            <a:ext cx="2450306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3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Crisman O Siagian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39638" y="4062755"/>
            <a:ext cx="362783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37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Peran: domain JKN &amp; riset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42090" y="5025562"/>
            <a:ext cx="117586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37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Keahlian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780190" y="6640049"/>
            <a:ext cx="1663422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b="true" sz="2499" spc="37">
                <a:solidFill>
                  <a:srgbClr val="137A5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Pengalaman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2322" y="5525624"/>
            <a:ext cx="458464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spc="3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Desain antarmuka dan visualisasi data untuk dashboard risiko klaim.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2797" y="7444912"/>
            <a:ext cx="4584640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spc="3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Mengerjakan </a:t>
            </a:r>
            <a:r>
              <a:rPr lang="en-US" sz="2499" spc="3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proyek akhir 1 dan 2 atau tugas besar dan pernah mengikuti lomba.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51256" y="5416087"/>
            <a:ext cx="4617596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spc="3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Pengolahan data, data simulasi, anomaly detection, dan risk scoring.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70306" y="7444912"/>
            <a:ext cx="4617596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spc="3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Mengerjakan proyek akhir 1 dan 2 atau tugas besar </a:t>
            </a:r>
            <a:r>
              <a:rPr lang="en-US" sz="2499" spc="3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data/ML atau dengan tautan GitHub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742090" y="5525624"/>
            <a:ext cx="4825382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spc="3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Riset alur klaim JKN dan aturan risiko (INA-CBG, ICD-10)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65792" y="7021049"/>
            <a:ext cx="4825382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  <a:spcBef>
                <a:spcPct val="0"/>
              </a:spcBef>
            </a:pPr>
            <a:r>
              <a:rPr lang="en-US" sz="2499" spc="3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Menyu</a:t>
            </a:r>
            <a:r>
              <a:rPr lang="en-US" sz="2499" spc="3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sun rujukan data dan regulasi JKN untuk ClaimGuard, serta pernah mengerjakan tugas besar Proyek Akhir 1 dan 2, dan kegiatan di luar kelas.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1414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solidFill>
              <a:srgbClr val="095A4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211202"/>
            <a:ext cx="5876572" cy="2019893"/>
            <a:chOff x="0" y="0"/>
            <a:chExt cx="19564350" cy="67246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64350" cy="6724650"/>
            </a:xfrm>
            <a:custGeom>
              <a:avLst/>
              <a:gdLst/>
              <a:ahLst/>
              <a:cxnLst/>
              <a:rect r="r" b="b" t="t" l="l"/>
              <a:pathLst>
                <a:path h="6724650" w="19564350">
                  <a:moveTo>
                    <a:pt x="0" y="0"/>
                  </a:moveTo>
                  <a:lnTo>
                    <a:pt x="19564350" y="0"/>
                  </a:lnTo>
                  <a:lnTo>
                    <a:pt x="19564350" y="6724650"/>
                  </a:lnTo>
                  <a:lnTo>
                    <a:pt x="0" y="6724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729" t="0" r="-1672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5350" y="4542616"/>
            <a:ext cx="16363950" cy="1158942"/>
            <a:chOff x="0" y="0"/>
            <a:chExt cx="2471429" cy="175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71429" cy="175034"/>
            </a:xfrm>
            <a:custGeom>
              <a:avLst/>
              <a:gdLst/>
              <a:ahLst/>
              <a:cxnLst/>
              <a:rect r="r" b="b" t="t" l="l"/>
              <a:pathLst>
                <a:path h="175034" w="2471429">
                  <a:moveTo>
                    <a:pt x="7570" y="0"/>
                  </a:moveTo>
                  <a:lnTo>
                    <a:pt x="2463859" y="0"/>
                  </a:lnTo>
                  <a:cubicBezTo>
                    <a:pt x="2465867" y="0"/>
                    <a:pt x="2467792" y="798"/>
                    <a:pt x="2469212" y="2217"/>
                  </a:cubicBezTo>
                  <a:cubicBezTo>
                    <a:pt x="2470632" y="3637"/>
                    <a:pt x="2471429" y="5562"/>
                    <a:pt x="2471429" y="7570"/>
                  </a:cubicBezTo>
                  <a:lnTo>
                    <a:pt x="2471429" y="167464"/>
                  </a:lnTo>
                  <a:cubicBezTo>
                    <a:pt x="2471429" y="169472"/>
                    <a:pt x="2470632" y="171397"/>
                    <a:pt x="2469212" y="172817"/>
                  </a:cubicBezTo>
                  <a:cubicBezTo>
                    <a:pt x="2467792" y="174236"/>
                    <a:pt x="2465867" y="175034"/>
                    <a:pt x="2463859" y="175034"/>
                  </a:cubicBezTo>
                  <a:lnTo>
                    <a:pt x="7570" y="175034"/>
                  </a:lnTo>
                  <a:cubicBezTo>
                    <a:pt x="3389" y="175034"/>
                    <a:pt x="0" y="171645"/>
                    <a:pt x="0" y="167464"/>
                  </a:cubicBezTo>
                  <a:lnTo>
                    <a:pt x="0" y="7570"/>
                  </a:lnTo>
                  <a:cubicBezTo>
                    <a:pt x="0" y="3389"/>
                    <a:pt x="3389" y="0"/>
                    <a:pt x="7570" y="0"/>
                  </a:cubicBezTo>
                  <a:close/>
                </a:path>
              </a:pathLst>
            </a:custGeom>
            <a:solidFill>
              <a:srgbClr val="0C805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95350" y="4542616"/>
            <a:ext cx="3071636" cy="1158942"/>
            <a:chOff x="0" y="0"/>
            <a:chExt cx="463906" cy="1750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3906" cy="175034"/>
            </a:xfrm>
            <a:custGeom>
              <a:avLst/>
              <a:gdLst/>
              <a:ahLst/>
              <a:cxnLst/>
              <a:rect r="r" b="b" t="t" l="l"/>
              <a:pathLst>
                <a:path h="175034" w="463906">
                  <a:moveTo>
                    <a:pt x="40327" y="0"/>
                  </a:moveTo>
                  <a:lnTo>
                    <a:pt x="423579" y="0"/>
                  </a:lnTo>
                  <a:cubicBezTo>
                    <a:pt x="445851" y="0"/>
                    <a:pt x="463906" y="18055"/>
                    <a:pt x="463906" y="40327"/>
                  </a:cubicBezTo>
                  <a:lnTo>
                    <a:pt x="463906" y="134706"/>
                  </a:lnTo>
                  <a:cubicBezTo>
                    <a:pt x="463906" y="156979"/>
                    <a:pt x="445851" y="175034"/>
                    <a:pt x="423579" y="175034"/>
                  </a:cubicBezTo>
                  <a:lnTo>
                    <a:pt x="40327" y="175034"/>
                  </a:lnTo>
                  <a:cubicBezTo>
                    <a:pt x="18055" y="175034"/>
                    <a:pt x="0" y="156979"/>
                    <a:pt x="0" y="134706"/>
                  </a:cubicBezTo>
                  <a:lnTo>
                    <a:pt x="0" y="40327"/>
                  </a:lnTo>
                  <a:cubicBezTo>
                    <a:pt x="0" y="18055"/>
                    <a:pt x="18055" y="0"/>
                    <a:pt x="40327" y="0"/>
                  </a:cubicBezTo>
                  <a:close/>
                </a:path>
              </a:pathLst>
            </a:custGeom>
            <a:solidFill>
              <a:srgbClr val="38BC91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95350" y="2349341"/>
            <a:ext cx="10019705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b="true" sz="5499" spc="701">
                <a:solidFill>
                  <a:srgbClr val="A0D44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Detect. Explain. Prioritize.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5771" y="4779186"/>
            <a:ext cx="1571744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Masalah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19314" y="4645836"/>
            <a:ext cx="12805331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Biaya JKN terus naik (beban jaminan Rp175,07 T pada 2024), sehingga pemeriksaan klaim perlu lebih terarah.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95350" y="6177807"/>
            <a:ext cx="16363950" cy="1158942"/>
            <a:chOff x="0" y="0"/>
            <a:chExt cx="2471429" cy="1750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1429" cy="175034"/>
            </a:xfrm>
            <a:custGeom>
              <a:avLst/>
              <a:gdLst/>
              <a:ahLst/>
              <a:cxnLst/>
              <a:rect r="r" b="b" t="t" l="l"/>
              <a:pathLst>
                <a:path h="175034" w="2471429">
                  <a:moveTo>
                    <a:pt x="7570" y="0"/>
                  </a:moveTo>
                  <a:lnTo>
                    <a:pt x="2463859" y="0"/>
                  </a:lnTo>
                  <a:cubicBezTo>
                    <a:pt x="2465867" y="0"/>
                    <a:pt x="2467792" y="798"/>
                    <a:pt x="2469212" y="2217"/>
                  </a:cubicBezTo>
                  <a:cubicBezTo>
                    <a:pt x="2470632" y="3637"/>
                    <a:pt x="2471429" y="5562"/>
                    <a:pt x="2471429" y="7570"/>
                  </a:cubicBezTo>
                  <a:lnTo>
                    <a:pt x="2471429" y="167464"/>
                  </a:lnTo>
                  <a:cubicBezTo>
                    <a:pt x="2471429" y="169472"/>
                    <a:pt x="2470632" y="171397"/>
                    <a:pt x="2469212" y="172817"/>
                  </a:cubicBezTo>
                  <a:cubicBezTo>
                    <a:pt x="2467792" y="174236"/>
                    <a:pt x="2465867" y="175034"/>
                    <a:pt x="2463859" y="175034"/>
                  </a:cubicBezTo>
                  <a:lnTo>
                    <a:pt x="7570" y="175034"/>
                  </a:lnTo>
                  <a:cubicBezTo>
                    <a:pt x="3389" y="175034"/>
                    <a:pt x="0" y="171645"/>
                    <a:pt x="0" y="167464"/>
                  </a:cubicBezTo>
                  <a:lnTo>
                    <a:pt x="0" y="7570"/>
                  </a:lnTo>
                  <a:cubicBezTo>
                    <a:pt x="0" y="3389"/>
                    <a:pt x="3389" y="0"/>
                    <a:pt x="7570" y="0"/>
                  </a:cubicBezTo>
                  <a:close/>
                </a:path>
              </a:pathLst>
            </a:custGeom>
            <a:solidFill>
              <a:srgbClr val="0C805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95350" y="6177807"/>
            <a:ext cx="3071636" cy="1158942"/>
            <a:chOff x="0" y="0"/>
            <a:chExt cx="463906" cy="1750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3906" cy="175034"/>
            </a:xfrm>
            <a:custGeom>
              <a:avLst/>
              <a:gdLst/>
              <a:ahLst/>
              <a:cxnLst/>
              <a:rect r="r" b="b" t="t" l="l"/>
              <a:pathLst>
                <a:path h="175034" w="463906">
                  <a:moveTo>
                    <a:pt x="40327" y="0"/>
                  </a:moveTo>
                  <a:lnTo>
                    <a:pt x="423579" y="0"/>
                  </a:lnTo>
                  <a:cubicBezTo>
                    <a:pt x="445851" y="0"/>
                    <a:pt x="463906" y="18055"/>
                    <a:pt x="463906" y="40327"/>
                  </a:cubicBezTo>
                  <a:lnTo>
                    <a:pt x="463906" y="134706"/>
                  </a:lnTo>
                  <a:cubicBezTo>
                    <a:pt x="463906" y="156979"/>
                    <a:pt x="445851" y="175034"/>
                    <a:pt x="423579" y="175034"/>
                  </a:cubicBezTo>
                  <a:lnTo>
                    <a:pt x="40327" y="175034"/>
                  </a:lnTo>
                  <a:cubicBezTo>
                    <a:pt x="18055" y="175034"/>
                    <a:pt x="0" y="156979"/>
                    <a:pt x="0" y="134706"/>
                  </a:cubicBezTo>
                  <a:lnTo>
                    <a:pt x="0" y="40327"/>
                  </a:lnTo>
                  <a:cubicBezTo>
                    <a:pt x="0" y="18055"/>
                    <a:pt x="18055" y="0"/>
                    <a:pt x="40327" y="0"/>
                  </a:cubicBezTo>
                  <a:close/>
                </a:path>
              </a:pathLst>
            </a:custGeom>
            <a:solidFill>
              <a:srgbClr val="38BC9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870503" y="6414378"/>
            <a:ext cx="1083231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Solusi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19314" y="6281028"/>
            <a:ext cx="12805331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ClaimGuard JKN memberi skor risiko 0-100, menjelaskan alasannya, dan mengurutkan klaim yang perlu ditinjau lebih dulu.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5350" y="7812999"/>
            <a:ext cx="16363950" cy="1158942"/>
            <a:chOff x="0" y="0"/>
            <a:chExt cx="2471429" cy="1750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71429" cy="175034"/>
            </a:xfrm>
            <a:custGeom>
              <a:avLst/>
              <a:gdLst/>
              <a:ahLst/>
              <a:cxnLst/>
              <a:rect r="r" b="b" t="t" l="l"/>
              <a:pathLst>
                <a:path h="175034" w="2471429">
                  <a:moveTo>
                    <a:pt x="7570" y="0"/>
                  </a:moveTo>
                  <a:lnTo>
                    <a:pt x="2463859" y="0"/>
                  </a:lnTo>
                  <a:cubicBezTo>
                    <a:pt x="2465867" y="0"/>
                    <a:pt x="2467792" y="798"/>
                    <a:pt x="2469212" y="2217"/>
                  </a:cubicBezTo>
                  <a:cubicBezTo>
                    <a:pt x="2470632" y="3637"/>
                    <a:pt x="2471429" y="5562"/>
                    <a:pt x="2471429" y="7570"/>
                  </a:cubicBezTo>
                  <a:lnTo>
                    <a:pt x="2471429" y="167464"/>
                  </a:lnTo>
                  <a:cubicBezTo>
                    <a:pt x="2471429" y="169472"/>
                    <a:pt x="2470632" y="171397"/>
                    <a:pt x="2469212" y="172817"/>
                  </a:cubicBezTo>
                  <a:cubicBezTo>
                    <a:pt x="2467792" y="174236"/>
                    <a:pt x="2465867" y="175034"/>
                    <a:pt x="2463859" y="175034"/>
                  </a:cubicBezTo>
                  <a:lnTo>
                    <a:pt x="7570" y="175034"/>
                  </a:lnTo>
                  <a:cubicBezTo>
                    <a:pt x="3389" y="175034"/>
                    <a:pt x="0" y="171645"/>
                    <a:pt x="0" y="167464"/>
                  </a:cubicBezTo>
                  <a:lnTo>
                    <a:pt x="0" y="7570"/>
                  </a:lnTo>
                  <a:cubicBezTo>
                    <a:pt x="0" y="3389"/>
                    <a:pt x="3389" y="0"/>
                    <a:pt x="7570" y="0"/>
                  </a:cubicBezTo>
                  <a:close/>
                </a:path>
              </a:pathLst>
            </a:custGeom>
            <a:solidFill>
              <a:srgbClr val="0C805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95350" y="7812999"/>
            <a:ext cx="3071636" cy="1158942"/>
            <a:chOff x="0" y="0"/>
            <a:chExt cx="463906" cy="1750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3906" cy="175034"/>
            </a:xfrm>
            <a:custGeom>
              <a:avLst/>
              <a:gdLst/>
              <a:ahLst/>
              <a:cxnLst/>
              <a:rect r="r" b="b" t="t" l="l"/>
              <a:pathLst>
                <a:path h="175034" w="463906">
                  <a:moveTo>
                    <a:pt x="40327" y="0"/>
                  </a:moveTo>
                  <a:lnTo>
                    <a:pt x="423579" y="0"/>
                  </a:lnTo>
                  <a:cubicBezTo>
                    <a:pt x="445851" y="0"/>
                    <a:pt x="463906" y="18055"/>
                    <a:pt x="463906" y="40327"/>
                  </a:cubicBezTo>
                  <a:lnTo>
                    <a:pt x="463906" y="134706"/>
                  </a:lnTo>
                  <a:cubicBezTo>
                    <a:pt x="463906" y="156979"/>
                    <a:pt x="445851" y="175034"/>
                    <a:pt x="423579" y="175034"/>
                  </a:cubicBezTo>
                  <a:lnTo>
                    <a:pt x="40327" y="175034"/>
                  </a:lnTo>
                  <a:cubicBezTo>
                    <a:pt x="18055" y="175034"/>
                    <a:pt x="0" y="156979"/>
                    <a:pt x="0" y="134706"/>
                  </a:cubicBezTo>
                  <a:lnTo>
                    <a:pt x="0" y="40327"/>
                  </a:lnTo>
                  <a:cubicBezTo>
                    <a:pt x="0" y="18055"/>
                    <a:pt x="18055" y="0"/>
                    <a:pt x="40327" y="0"/>
                  </a:cubicBezTo>
                  <a:close/>
                </a:path>
              </a:pathLst>
            </a:custGeom>
            <a:solidFill>
              <a:srgbClr val="38BC91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655416" y="8049570"/>
            <a:ext cx="1532453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Dampak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19314" y="7916220"/>
            <a:ext cx="12805331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Petugas memulai dari klaim paling berisiko, dengan keputusan akhir tetap di manusia. Dampak diuji pada data simulasi.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95350" y="3418666"/>
            <a:ext cx="3692843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9"/>
              </a:lnSpc>
              <a:spcBef>
                <a:spcPct val="0"/>
              </a:spcBef>
            </a:pPr>
            <a:r>
              <a:rPr lang="en-US" b="true" sz="2999" spc="464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CLAIMGUARD JKN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8122" y="9410090"/>
            <a:ext cx="203561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i="true" spc="30">
                <a:solidFill>
                  <a:srgbClr val="7ED957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Healthkathon 2026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24515" y="5033963"/>
            <a:ext cx="223897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  <a:spcBef>
                <a:spcPct val="0"/>
              </a:spcBef>
            </a:pPr>
            <a:r>
              <a:rPr lang="en-US" sz="1575" spc="-15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Kematangan dan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DAHW6ibYlz0</dc:identifier>
  <dcterms:modified xsi:type="dcterms:W3CDTF">2011-08-01T06:04:30Z</dcterms:modified>
  <cp:revision>1</cp:revision>
  <dc:title>Dari Tumpukan Klaim ke Daftar Prioritas yang Bisa Dijelaskan</dc:title>
</cp:coreProperties>
</file>